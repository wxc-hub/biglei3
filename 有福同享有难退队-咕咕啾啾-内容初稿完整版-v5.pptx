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a78ee20a6042e7" /><Relationship Type="http://schemas.openxmlformats.org/officeDocument/2006/relationships/extended-properties" Target="/docProps/app.xml" Id="R9a43a9da045d4c03" /><Relationship Type="http://schemas.openxmlformats.org/officeDocument/2006/relationships/officeDocument" Target="/ppt/presentation.xml" Id="R15229b783e9442c2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c4c397d7c47d41ad"/>
  </p:sldMasterIdLst>
  <p:notesMasterIdLst>
    <p:notesMasterId xmlns:r="http://schemas.openxmlformats.org/officeDocument/2006/relationships" r:id="R1d8fdf6894e24ccb"/>
  </p:notesMasterIdLst>
  <p:sldIdLst>
    <p:sldId xmlns:r="http://schemas.openxmlformats.org/officeDocument/2006/relationships" id="256" r:id="Rd97382896e0f424a"/>
    <p:sldId xmlns:r="http://schemas.openxmlformats.org/officeDocument/2006/relationships" id="257" r:id="Reae3e33897ec49f9"/>
    <p:sldId xmlns:r="http://schemas.openxmlformats.org/officeDocument/2006/relationships" id="258" r:id="Rda2d4e3122d4467a"/>
    <p:sldId xmlns:r="http://schemas.openxmlformats.org/officeDocument/2006/relationships" id="259" r:id="R3d82685e3a534474"/>
    <p:sldId xmlns:r="http://schemas.openxmlformats.org/officeDocument/2006/relationships" id="260" r:id="R66f10b33aa8b4efa"/>
    <p:sldId xmlns:r="http://schemas.openxmlformats.org/officeDocument/2006/relationships" id="261" r:id="R7845475da6cb47ed"/>
    <p:sldId xmlns:r="http://schemas.openxmlformats.org/officeDocument/2006/relationships" id="262" r:id="Reb69cd28c808433f"/>
    <p:sldId xmlns:r="http://schemas.openxmlformats.org/officeDocument/2006/relationships" id="263" r:id="R33589b9715ea4a6a"/>
    <p:sldId xmlns:r="http://schemas.openxmlformats.org/officeDocument/2006/relationships" id="264" r:id="R7676088fd2a24c65"/>
  </p:sldIdLst>
  <p:sldSz cx="9144000" cy="5143500"/>
  <p:notesSz cx="6858000" cy="9144000"/>
  <p:embeddedFontLst>
    <p:embeddedFont>
      <p:font typeface="Garamond"/>
      <p:regular xmlns:r="http://schemas.openxmlformats.org/officeDocument/2006/relationships" r:id="Rb70aee1244904962"/>
      <p:bold xmlns:r="http://schemas.openxmlformats.org/officeDocument/2006/relationships" r:id="Rbb23358fdad141ef"/>
      <p:italic xmlns:r="http://schemas.openxmlformats.org/officeDocument/2006/relationships" r:id="Rd745b3d8214d48c2"/>
    </p:embeddedFont>
    <p:embeddedFont>
      <p:font typeface="Noto Sans TC"/>
      <p:regular xmlns:r="http://schemas.openxmlformats.org/officeDocument/2006/relationships" r:id="R024d9b8586f641ab"/>
      <p:bold xmlns:r="http://schemas.openxmlformats.org/officeDocument/2006/relationships" r:id="Rcf482551be4d4040"/>
    </p:embeddedFont>
    <p:embeddedFont>
      <p:font typeface="Palatino Linotype"/>
      <p:regular xmlns:r="http://schemas.openxmlformats.org/officeDocument/2006/relationships" r:id="R8d7d891fe8af422f"/>
      <p:bold xmlns:r="http://schemas.openxmlformats.org/officeDocument/2006/relationships" r:id="Rf4ef9f00bf514a2d"/>
      <p:italic xmlns:r="http://schemas.openxmlformats.org/officeDocument/2006/relationships" r:id="R15e11fda91514bc9"/>
      <p:boldItalic xmlns:r="http://schemas.openxmlformats.org/officeDocument/2006/relationships" r:id="R9a3b80b24a944cf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437ba5f81d4f45" /><Relationship Type="http://schemas.openxmlformats.org/officeDocument/2006/relationships/slideMaster" Target="/ppt/slideMasters/slideMaster1.xml" Id="Rc4c397d7c47d41ad" /><Relationship Type="http://schemas.openxmlformats.org/officeDocument/2006/relationships/notesMaster" Target="/ppt/notesMasters/notesMaster1.xml" Id="R1d8fdf6894e24ccb" /><Relationship Type="http://schemas.openxmlformats.org/officeDocument/2006/relationships/presProps" Target="/ppt/presProps.xml" Id="Rd6826d1dc6c048f8" /><Relationship Type="http://schemas.openxmlformats.org/officeDocument/2006/relationships/viewProps" Target="/ppt/viewProps.xml" Id="Rd1d8c8d8c9014e19" /><Relationship Type="http://schemas.openxmlformats.org/officeDocument/2006/relationships/tableStyles" Target="/ppt/tableStyles.xml" Id="Rd277c3c570a042eb" /><Relationship Type="http://schemas.openxmlformats.org/officeDocument/2006/relationships/font" Target="/ppt/fonts/font.dat" Id="Rb70aee1244904962" /><Relationship Type="http://schemas.openxmlformats.org/officeDocument/2006/relationships/font" Target="/ppt/fonts/font2.dat" Id="Rbb23358fdad141ef" /><Relationship Type="http://schemas.openxmlformats.org/officeDocument/2006/relationships/font" Target="/ppt/fonts/font3.dat" Id="Rd745b3d8214d48c2" /><Relationship Type="http://schemas.openxmlformats.org/officeDocument/2006/relationships/font" Target="/ppt/fonts/font4.dat" Id="R024d9b8586f641ab" /><Relationship Type="http://schemas.openxmlformats.org/officeDocument/2006/relationships/font" Target="/ppt/fonts/font5.dat" Id="Rcf482551be4d4040" /><Relationship Type="http://schemas.openxmlformats.org/officeDocument/2006/relationships/font" Target="/ppt/fonts/font6.dat" Id="R8d7d891fe8af422f" /><Relationship Type="http://schemas.openxmlformats.org/officeDocument/2006/relationships/font" Target="/ppt/fonts/font7.dat" Id="Rf4ef9f00bf514a2d" /><Relationship Type="http://schemas.openxmlformats.org/officeDocument/2006/relationships/font" Target="/ppt/fonts/font8.dat" Id="R15e11fda91514bc9" /><Relationship Type="http://schemas.openxmlformats.org/officeDocument/2006/relationships/font" Target="/ppt/fonts/font9.dat" Id="R9a3b80b24a944cf5" /><Relationship Type="http://schemas.openxmlformats.org/officeDocument/2006/relationships/slide" Target="/ppt/slides/slide1.xml" Id="Rd97382896e0f424a" /><Relationship Type="http://schemas.openxmlformats.org/officeDocument/2006/relationships/slide" Target="/ppt/slides/slide2.xml" Id="Reae3e33897ec49f9" /><Relationship Type="http://schemas.openxmlformats.org/officeDocument/2006/relationships/slide" Target="/ppt/slides/slide3.xml" Id="Rda2d4e3122d4467a" /><Relationship Type="http://schemas.openxmlformats.org/officeDocument/2006/relationships/slide" Target="/ppt/slides/slide4.xml" Id="R3d82685e3a534474" /><Relationship Type="http://schemas.openxmlformats.org/officeDocument/2006/relationships/slide" Target="/ppt/slides/slide5.xml" Id="R66f10b33aa8b4efa" /><Relationship Type="http://schemas.openxmlformats.org/officeDocument/2006/relationships/slide" Target="/ppt/slides/slide6.xml" Id="R7845475da6cb47ed" /><Relationship Type="http://schemas.openxmlformats.org/officeDocument/2006/relationships/slide" Target="/ppt/slides/slide7.xml" Id="Reb69cd28c808433f" /><Relationship Type="http://schemas.openxmlformats.org/officeDocument/2006/relationships/slide" Target="/ppt/slides/slide8.xml" Id="R33589b9715ea4a6a" /><Relationship Type="http://schemas.openxmlformats.org/officeDocument/2006/relationships/slide" Target="/ppt/slides/slide9.xml" Id="R7676088fd2a24c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f0bab36b8940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e961bc8e6b4cd8" /><Relationship Type="http://schemas.openxmlformats.org/officeDocument/2006/relationships/notesMaster" Target="/ppt/notesMasters/notesMaster1.xml" Id="R6998935ecc1b43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e1ce6d482f4abd" /><Relationship Type="http://schemas.openxmlformats.org/officeDocument/2006/relationships/notesMaster" Target="/ppt/notesMasters/notesMaster1.xml" Id="Ra827af3c83ee4b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74fe4c429b4190" /><Relationship Type="http://schemas.openxmlformats.org/officeDocument/2006/relationships/notesMaster" Target="/ppt/notesMasters/notesMaster1.xml" Id="R68f9f6d78c8b42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8ff15185d84da5" /><Relationship Type="http://schemas.openxmlformats.org/officeDocument/2006/relationships/notesMaster" Target="/ppt/notesMasters/notesMaster1.xml" Id="R8a9e9ed78e0549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727d3032d5412e" /><Relationship Type="http://schemas.openxmlformats.org/officeDocument/2006/relationships/notesMaster" Target="/ppt/notesMasters/notesMaster1.xml" Id="R8c2bf6431b2547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c14708d72d4e72" /><Relationship Type="http://schemas.openxmlformats.org/officeDocument/2006/relationships/notesMaster" Target="/ppt/notesMasters/notesMaster1.xml" Id="R4cd41d2d3ae544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b65a17943047d2" /><Relationship Type="http://schemas.openxmlformats.org/officeDocument/2006/relationships/notesMaster" Target="/ppt/notesMasters/notesMaster1.xml" Id="R03aed57d33524c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b282e646ee4d0c" /><Relationship Type="http://schemas.openxmlformats.org/officeDocument/2006/relationships/notesMaster" Target="/ppt/notesMasters/notesMaster1.xml" Id="Rf054b38009d246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fbb48a687f4992" /><Relationship Type="http://schemas.openxmlformats.org/officeDocument/2006/relationships/notesMaster" Target="/ppt/notesMasters/notesMaster1.xml" Id="R060cc454913844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78631b58e344e3" /><Relationship Type="http://schemas.openxmlformats.org/officeDocument/2006/relationships/image" Target="/ppt/media/image.png" Id="Rf3bd3617f6a24758" /><Relationship Type="http://schemas.openxmlformats.org/officeDocument/2006/relationships/image" Target="/ppt/media/image2.png" Id="Ra74d6ac040734505" /><Relationship Type="http://schemas.openxmlformats.org/officeDocument/2006/relationships/image" Target="/ppt/media/image3.png" Id="R0f935768d9b3482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a7e2c7dd6d4f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71cea4ab0140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524292156b41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073a0e43e5471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d0f8b20859494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1fad22f18a4bc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1df2424d29405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43affda0b1412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a83c021568417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352019dd4e4cc1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116ADF8D-0DCC-49D8-994D-9452775372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17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3bd3617f6a24758"/>
          <a:srcRect xmlns:a="http://schemas.openxmlformats.org/drawingml/2006/main" l="3201" t="2894" r="3201" b="31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00" y="4663225"/>
            <a:ext cx="1292627" cy="393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2" name="Google Shape;18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4d6ac04073450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741234" cy="2481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" name="Google Shape;19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f935768d9b348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4651" y="3090900"/>
            <a:ext cx="3319349" cy="2052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851F7FFF-EA97-410E-A2E3-36D84130C4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EA87E88D-6A3B-44B7-A444-6E9CB17C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" y="733085"/>
            <a:ext cx="8516797" cy="51054"/>
          </a:xfrm>
          <a:custGeom xmlns:a="http://schemas.openxmlformats.org/drawingml/2006/main">
            <a:rect l="l" t="t" r="r" b="b"/>
            <a:pathLst>
              <a:path w="9436894" h="152400">
                <a:moveTo>
                  <a:pt x="0" y="0"/>
                </a:moveTo>
                <a:lnTo>
                  <a:pt x="9436894" y="0"/>
                </a:lnTo>
                <a:lnTo>
                  <a:pt x="9402763" y="152400"/>
                </a:lnTo>
                <a:lnTo>
                  <a:pt x="0" y="152038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710" b="0" i="0" u="non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556BE923-4570-4CF2-917F-04F714FF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" y="4973814"/>
            <a:ext cx="4999500" cy="1176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400" tIns="45700" rIns="43400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6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Private and Confidential</a:t>
            </a:r>
          </a:p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B7680E37-B090-4B7E-BEB5-01706C0D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140" y="5124000"/>
            <a:ext cx="9144000" cy="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775" tIns="43375" rIns="86775" bIns="43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045">
              <a:solidFill>
                <a:srgbClr val="000000"/>
              </a:solidFill>
              <a:latin typeface="Palatino Linotype"/>
              <a:ea typeface="Palatino Linotype"/>
              <a:cs typeface="Palatino Linotype"/>
            </a:endParaRPr>
          </a:p>
        </p:txBody>
      </p:sp>
      <p:sp>
        <p:nvSpPr>
          <p:cNvPr id="25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D6319BF5-23A5-44B9-9CC4-8BF41805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" y="0"/>
            <a:ext cx="4573200" cy="1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775" tIns="43375" rIns="86775" bIns="43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95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Google Shape;26;p3">
            <a:extLst xmlns:a="http://schemas.openxmlformats.org/drawingml/2006/main">
              <a:ext uri="{FF2B5EF4-FFF2-40B4-BE49-F238E27FC236}">
                <a16:creationId xmlns:a16="http://schemas.microsoft.com/office/drawing/2014/main" id="{DE3E68D9-545E-47BD-8FA7-4C8DFA80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" y="0"/>
            <a:ext cx="9144000" cy="1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A5A5">
              <a:alpha val="6078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6775" tIns="43375" rIns="86775" bIns="433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950" b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3">
            <a:extLst xmlns:a="http://schemas.openxmlformats.org/drawingml/2006/main">
              <a:ext uri="{FF2B5EF4-FFF2-40B4-BE49-F238E27FC236}">
                <a16:creationId xmlns:a16="http://schemas.microsoft.com/office/drawing/2014/main" id="{1C1B7475-4430-4602-8139-776CAC60F5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7425" y="290300"/>
            <a:ext cx="59748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7C9D7F84-6634-437C-9121-DC58A5A4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533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65" b="0" i="0" u="none" cap="non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77C23087-3B6F-4345-A25D-789AF5E3C4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D42797CA-A875-492C-8A48-DCF88BB5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675" y="4867535"/>
            <a:ext cx="1809300" cy="18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Garamond"/>
              <a:buNone/>
            </a:pPr>
            <a:r>
              <a:rPr sz="1065" b="0" i="0" u="none" cap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Private and Confidential</a:t>
            </a:r>
            <a:endParaRPr sz="1465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C3CDA7F0-2310-4828-8E00-D19D471F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674" y="1749688"/>
            <a:ext cx="2236469" cy="467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aramond"/>
              <a:buNone/>
            </a:pPr>
            <a:r>
              <a:rPr sz="3200" b="0" i="0" u="none" cap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Thank you!</a:t>
            </a: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FF6BF2A6-6519-48A9-B821-6CCAD3EC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500" y="2517675"/>
            <a:ext cx="1387241" cy="512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aramond"/>
              <a:buNone/>
            </a:pPr>
            <a:r>
              <a:rPr sz="3600" b="0" i="0" u="none" cap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謝謝</a:t>
            </a: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584AC224-35DA-4EDB-87ED-2484F38A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131" y="2517675"/>
            <a:ext cx="2546727" cy="423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aramond"/>
              <a:buNone/>
            </a:pPr>
            <a:r>
              <a:rPr sz="2800" b="0" i="0" u="none" cap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Terima kasih</a:t>
            </a:r>
            <a:endParaRPr sz="1065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38932DED-09F2-46A1-802F-BAC7EB0A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626" y="610075"/>
            <a:ext cx="2414214" cy="423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sz="2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Cảm ơn bạn</a:t>
            </a:r>
            <a:endParaRPr sz="2800" b="0" i="0" u="none" cap="none">
              <a:solidFill>
                <a:srgbClr val="FFFFFF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92C0669F-4558-4DE0-B761-EF3DA02C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478" y="1514525"/>
            <a:ext cx="1492359" cy="423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aramond"/>
              <a:buNone/>
            </a:pPr>
            <a:r>
              <a:rPr sz="2800" b="0" i="0" u="none" cap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Salamat</a:t>
            </a:r>
            <a:endParaRPr sz="1065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BCE6BE7E-41FD-44AC-9314-66E57394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475" y="1443025"/>
            <a:ext cx="2153967" cy="423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sz="28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감사합니다</a:t>
            </a:r>
          </a:p>
        </p:txBody>
      </p:sp>
      <p:sp>
        <p:nvSpPr>
          <p:cNvPr id="39" name="Google Shape;39;p4">
            <a:extLst xmlns:a="http://schemas.openxmlformats.org/drawingml/2006/main">
              <a:ext uri="{FF2B5EF4-FFF2-40B4-BE49-F238E27FC236}">
                <a16:creationId xmlns:a16="http://schemas.microsoft.com/office/drawing/2014/main" id="{2742692C-83FF-4DEF-A778-581581E7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071" y="729100"/>
            <a:ext cx="2477922" cy="667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Calibri"/>
              <a:buNone/>
            </a:pPr>
            <a:r>
              <a:rPr sz="5065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ขอบคุณ</a:t>
            </a:r>
          </a:p>
        </p:txBody>
      </p:sp>
      <p:cxnSp>
        <p:nvCxnSpPr>
          <p:cNvPr id="95" name="Google Shape;40;p4"/>
          <p:cNvCxnSpPr/>
          <p:nvPr/>
        </p:nvCxnSpPr>
        <p:spPr>
          <a:xfrm xmlns:a="http://schemas.openxmlformats.org/drawingml/2006/main">
            <a:off x="1007269" y="3347117"/>
            <a:ext cx="712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4C9A599C-F1B4-4CAF-A302-838451B3A7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1BB54976-109D-43D1-B5B0-3901EA52FA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80881A6C-AABA-42A8-8577-ABD7E42F8C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0C0C80E5-7140-42CA-9297-42E2838B1F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Google Shape;47;p6">
            <a:extLst xmlns:a="http://schemas.openxmlformats.org/drawingml/2006/main">
              <a:ext uri="{FF2B5EF4-FFF2-40B4-BE49-F238E27FC236}">
                <a16:creationId xmlns:a16="http://schemas.microsoft.com/office/drawing/2014/main" id="{36EBC89D-27C1-4CBA-9CA8-AC9A0CDEF6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8" name="Google Shape;48;p6">
            <a:extLst xmlns:a="http://schemas.openxmlformats.org/drawingml/2006/main">
              <a:ext uri="{FF2B5EF4-FFF2-40B4-BE49-F238E27FC236}">
                <a16:creationId xmlns:a16="http://schemas.microsoft.com/office/drawing/2014/main" id="{7A93B429-E653-4A63-A1D0-D327699CFC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B318C088-2DBC-4FF4-B5CD-D7D27F43D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>
            <a:endParaRPr/>
          </a:p>
        </p:txBody>
      </p:sp>
      <p:sp>
        <p:nvSpPr>
          <p:cNvPr id="51" name="Google Shape;51;p7">
            <a:extLst xmlns:a="http://schemas.openxmlformats.org/drawingml/2006/main">
              <a:ext uri="{FF2B5EF4-FFF2-40B4-BE49-F238E27FC236}">
                <a16:creationId xmlns:a16="http://schemas.microsoft.com/office/drawing/2014/main" id="{1ACC1C21-022B-46FC-95CB-6E8D9890CE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52" name="Google Shape;52;p7">
            <a:extLst xmlns:a="http://schemas.openxmlformats.org/drawingml/2006/main">
              <a:ext uri="{FF2B5EF4-FFF2-40B4-BE49-F238E27FC236}">
                <a16:creationId xmlns:a16="http://schemas.microsoft.com/office/drawing/2014/main" id="{FE39FB08-095D-4997-AE00-C62E5D3DFF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214F4C30-BE47-40E3-8EC1-58A7B82A32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E74DDF82-7F2F-4844-BBE0-894A494C16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9">
            <a:extLst xmlns:a="http://schemas.openxmlformats.org/drawingml/2006/main">
              <a:ext uri="{FF2B5EF4-FFF2-40B4-BE49-F238E27FC236}">
                <a16:creationId xmlns:a16="http://schemas.microsoft.com/office/drawing/2014/main" id="{F610F6A3-25EB-4D5D-B394-E5BF8C3E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9">
            <a:extLst xmlns:a="http://schemas.openxmlformats.org/drawingml/2006/main">
              <a:ext uri="{FF2B5EF4-FFF2-40B4-BE49-F238E27FC236}">
                <a16:creationId xmlns:a16="http://schemas.microsoft.com/office/drawing/2014/main" id="{1D245236-7EAB-4A29-BF9D-A9E1781A41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>
            <a:endParaRPr/>
          </a:p>
        </p:txBody>
      </p:sp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26F8CE94-FDDA-4ED0-BC43-E4EFE32F0C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>
            <a:endParaRPr/>
          </a:p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B01AB1CD-9917-4D26-B8C3-8E703AEBC5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FA148AEF-1580-4BEF-AF77-C1D3737903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Google Shape;63;p10">
            <a:extLst xmlns:a="http://schemas.openxmlformats.org/drawingml/2006/main">
              <a:ext uri="{FF2B5EF4-FFF2-40B4-BE49-F238E27FC236}">
                <a16:creationId xmlns:a16="http://schemas.microsoft.com/office/drawing/2014/main" id="{231C7F30-F83C-4B18-8E87-8733D1A0AD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64" name="Google Shape;64;p10">
            <a:extLst xmlns:a="http://schemas.openxmlformats.org/drawingml/2006/main">
              <a:ext uri="{FF2B5EF4-FFF2-40B4-BE49-F238E27FC236}">
                <a16:creationId xmlns:a16="http://schemas.microsoft.com/office/drawing/2014/main" id="{89F4EE0D-9B9D-4452-8A22-812C9A7A1E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1">
            <a:extLst xmlns:a="http://schemas.openxmlformats.org/drawingml/2006/main">
              <a:ext uri="{FF2B5EF4-FFF2-40B4-BE49-F238E27FC236}">
                <a16:creationId xmlns:a16="http://schemas.microsoft.com/office/drawing/2014/main" id="{E353DC2C-697A-4CAC-8D1F-5604C20FBA2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67" name="Google Shape;67;p11">
            <a:extLst xmlns:a="http://schemas.openxmlformats.org/drawingml/2006/main">
              <a:ext uri="{FF2B5EF4-FFF2-40B4-BE49-F238E27FC236}">
                <a16:creationId xmlns:a16="http://schemas.microsoft.com/office/drawing/2014/main" id="{D39EAD8E-4C56-40E1-9C33-455758DE9B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1">
            <a:extLst xmlns:a="http://schemas.openxmlformats.org/drawingml/2006/main">
              <a:ext uri="{FF2B5EF4-FFF2-40B4-BE49-F238E27FC236}">
                <a16:creationId xmlns:a16="http://schemas.microsoft.com/office/drawing/2014/main" id="{DA7CE37F-F046-4637-BAE4-9423BA73D9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12">
            <a:extLst xmlns:a="http://schemas.openxmlformats.org/drawingml/2006/main">
              <a:ext uri="{FF2B5EF4-FFF2-40B4-BE49-F238E27FC236}">
                <a16:creationId xmlns:a16="http://schemas.microsoft.com/office/drawing/2014/main" id="{188DA52E-5F44-456F-A500-9A799F7AA5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100c9826e54d96" /><Relationship Type="http://schemas.openxmlformats.org/officeDocument/2006/relationships/slideLayout" Target="/ppt/slideLayouts/slideLayout1.xml" Id="R654025fa94174762" /><Relationship Type="http://schemas.openxmlformats.org/officeDocument/2006/relationships/slideLayout" Target="/ppt/slideLayouts/slideLayout2.xml" Id="R29702f61a3764133" /><Relationship Type="http://schemas.openxmlformats.org/officeDocument/2006/relationships/slideLayout" Target="/ppt/slideLayouts/slideLayout3.xml" Id="R407904bced3b42ca" /><Relationship Type="http://schemas.openxmlformats.org/officeDocument/2006/relationships/slideLayout" Target="/ppt/slideLayouts/slideLayout4.xml" Id="R7234ce279e804ac3" /><Relationship Type="http://schemas.openxmlformats.org/officeDocument/2006/relationships/slideLayout" Target="/ppt/slideLayouts/slideLayout5.xml" Id="R0e119dc93c3e4bfb" /><Relationship Type="http://schemas.openxmlformats.org/officeDocument/2006/relationships/slideLayout" Target="/ppt/slideLayouts/slideLayout6.xml" Id="R63d1c28e195e471f" /><Relationship Type="http://schemas.openxmlformats.org/officeDocument/2006/relationships/slideLayout" Target="/ppt/slideLayouts/slideLayout7.xml" Id="Rd528f5ee2de2479e" /><Relationship Type="http://schemas.openxmlformats.org/officeDocument/2006/relationships/slideLayout" Target="/ppt/slideLayouts/slideLayout8.xml" Id="Rfe0a3158e8f94747" /><Relationship Type="http://schemas.openxmlformats.org/officeDocument/2006/relationships/slideLayout" Target="/ppt/slideLayouts/slideLayout9.xml" Id="R273f7d42153b455a" /><Relationship Type="http://schemas.openxmlformats.org/officeDocument/2006/relationships/slideLayout" Target="/ppt/slideLayouts/slideLayout10.xml" Id="Rcba66f068a834787" /><Relationship Type="http://schemas.openxmlformats.org/officeDocument/2006/relationships/slideLayout" Target="/ppt/slideLayouts/slideLayout11.xml" Id="Rfca704bd64a9441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01AC826D-67B7-4664-8527-09D34DBD64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Noto Sans TC"/>
              <a:buNone/>
              <a:defRPr sz="2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88887EEE-6568-4034-B608-C8033A1A3B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TC"/>
              <a:buChar char="●"/>
              <a:defRPr sz="1800"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○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■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●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○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■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●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○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TC"/>
              <a:buChar char="■"/>
              <a:defRPr>
                <a:solidFill>
                  <a:srgbClr val="434343"/>
                </a:solidFill>
                <a:latin typeface="Noto Sans TC"/>
                <a:ea typeface="Noto Sans TC"/>
                <a:cs typeface="Noto Sans TC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A5D13A91-5580-4BF7-B7A7-20AF1AC770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91ABDEE8-EFF5-4ABE-899D-BA6C34AA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0825" y="0"/>
            <a:ext cx="334500" cy="1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5292C16C-613E-4C65-B5D1-2E1D0AC9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0825" y="185825"/>
            <a:ext cx="334500" cy="1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66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0DB16544-7B69-4721-BDEA-8A52264C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0825" y="371650"/>
            <a:ext cx="334500" cy="1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C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2" name="Google Shape;12;p1">
            <a:extLst xmlns:a="http://schemas.openxmlformats.org/drawingml/2006/main">
              <a:ext uri="{FF2B5EF4-FFF2-40B4-BE49-F238E27FC236}">
                <a16:creationId xmlns:a16="http://schemas.microsoft.com/office/drawing/2014/main" id="{5C4F33AF-80CD-42C3-B2DD-FEDFA82E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0825" y="557475"/>
            <a:ext cx="334500" cy="1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434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3" name="Google Shape;13;p1">
            <a:extLst xmlns:a="http://schemas.openxmlformats.org/drawingml/2006/main">
              <a:ext uri="{FF2B5EF4-FFF2-40B4-BE49-F238E27FC236}">
                <a16:creationId xmlns:a16="http://schemas.microsoft.com/office/drawing/2014/main" id="{EBA2C8A5-F151-4081-A63F-5CE6EACB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0825" y="743300"/>
            <a:ext cx="334500" cy="1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99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4" name="Google Shape;14;p1">
            <a:extLst xmlns:a="http://schemas.openxmlformats.org/drawingml/2006/main">
              <a:ext uri="{FF2B5EF4-FFF2-40B4-BE49-F238E27FC236}">
                <a16:creationId xmlns:a16="http://schemas.microsoft.com/office/drawing/2014/main" id="{0D588936-49E4-4747-A34E-42B99A3D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0825" y="929125"/>
            <a:ext cx="334500" cy="1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4025fa94174762"/>
    <p:sldLayoutId xmlns:r="http://schemas.openxmlformats.org/officeDocument/2006/relationships" id="2147483650" r:id="R29702f61a3764133"/>
    <p:sldLayoutId xmlns:r="http://schemas.openxmlformats.org/officeDocument/2006/relationships" id="2147483651" r:id="R407904bced3b42ca"/>
    <p:sldLayoutId xmlns:r="http://schemas.openxmlformats.org/officeDocument/2006/relationships" id="2147483652" r:id="R7234ce279e804ac3"/>
    <p:sldLayoutId xmlns:r="http://schemas.openxmlformats.org/officeDocument/2006/relationships" id="2147483653" r:id="R0e119dc93c3e4bfb"/>
    <p:sldLayoutId xmlns:r="http://schemas.openxmlformats.org/officeDocument/2006/relationships" id="2147483654" r:id="R63d1c28e195e471f"/>
    <p:sldLayoutId xmlns:r="http://schemas.openxmlformats.org/officeDocument/2006/relationships" id="2147483655" r:id="Rd528f5ee2de2479e"/>
    <p:sldLayoutId xmlns:r="http://schemas.openxmlformats.org/officeDocument/2006/relationships" id="2147483656" r:id="Rfe0a3158e8f94747"/>
    <p:sldLayoutId xmlns:r="http://schemas.openxmlformats.org/officeDocument/2006/relationships" id="2147483657" r:id="R273f7d42153b455a"/>
    <p:sldLayoutId xmlns:r="http://schemas.openxmlformats.org/officeDocument/2006/relationships" id="2147483658" r:id="Rcba66f068a834787"/>
    <p:sldLayoutId xmlns:r="http://schemas.openxmlformats.org/officeDocument/2006/relationships" id="2147483659" r:id="Rfca704bd64a9441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4b8da0b9a4403" /><Relationship Type="http://schemas.openxmlformats.org/officeDocument/2006/relationships/image" Target="/ppt/media/image4.png" Id="R17a75e61f3ee471b" /><Relationship Type="http://schemas.openxmlformats.org/officeDocument/2006/relationships/notesSlide" Target="/ppt/notesSlides/notesSlide1.xml" Id="R834efec8805145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9b529980cc94c16" /><Relationship Type="http://schemas.openxmlformats.org/officeDocument/2006/relationships/notesSlide" Target="/ppt/notesSlides/notesSlide2.xml" Id="R3d869c2625e64b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8f7333998734b9e" /><Relationship Type="http://schemas.openxmlformats.org/officeDocument/2006/relationships/notesSlide" Target="/ppt/notesSlides/notesSlide3.xml" Id="R75ced3d838dd44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840ac1dcf774ccd" /><Relationship Type="http://schemas.openxmlformats.org/officeDocument/2006/relationships/notesSlide" Target="/ppt/notesSlides/notesSlide4.xml" Id="R9f21c5fbb3474e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0cbfcb8c50d49b2" /><Relationship Type="http://schemas.openxmlformats.org/officeDocument/2006/relationships/notesSlide" Target="/ppt/notesSlides/notesSlide5.xml" Id="R9b09063d886445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973eaa5921842f6" /><Relationship Type="http://schemas.openxmlformats.org/officeDocument/2006/relationships/notesSlide" Target="/ppt/notesSlides/notesSlide6.xml" Id="R8f3bdffc4e7c44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dddbacea0b34b13" /><Relationship Type="http://schemas.openxmlformats.org/officeDocument/2006/relationships/notesSlide" Target="/ppt/notesSlides/notesSlide7.xml" Id="R6ff8b74b1cde4e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289ac52c8bd4182" /><Relationship Type="http://schemas.openxmlformats.org/officeDocument/2006/relationships/notesSlide" Target="/ppt/notesSlides/notesSlide8.xml" Id="R3ff5db07c09d4e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a7cd3063c8c48c3" /><Relationship Type="http://schemas.openxmlformats.org/officeDocument/2006/relationships/notesSlide" Target="/ppt/notesSlides/notesSlide9.xml" Id="Rf348d3c21fd04daa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17a75e61f3ee471b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3">
            <a:extLst xmlns:a="http://schemas.openxmlformats.org/drawingml/2006/main">
              <a:ext uri="{FF2B5EF4-FFF2-40B4-BE49-F238E27FC236}">
                <a16:creationId xmlns:a16="http://schemas.microsoft.com/office/drawing/2014/main" id="{240ED7AC-9CB8-48C7-A2E4-D0DB1B7D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300" y="1891425"/>
            <a:ext cx="7289400" cy="127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SourceHanSerifSC EvaJian"/>
                <a:ea typeface="SourceHanSerifSC EvaJian"/>
                <a:cs typeface="SourceHanSerifSC EvaJian"/>
              </a:defRPr>
            </a:pPr>
            <a:r>
              <a:rPr sz="4500" b="1">
                <a:solidFill>
                  <a:srgbClr val="FFD35C"/>
                </a:solidFill>
                <a:latin typeface="SourceHanSerifSC EvaJian"/>
                <a:ea typeface="SourceHanSerifSC EvaJian"/>
                <a:cs typeface="SourceHanSerifSC EvaJian"/>
              </a:rPr>
              <a:t>咕 咕 啾 啾</a:t>
            </a:r>
            <a:endParaRPr sz="4500" b="1">
              <a:solidFill>
                <a:srgbClr val="FFD35C"/>
              </a:solidFill>
            </a:endParaRPr>
          </a:p>
        </p:txBody>
      </p:sp>
      <p:sp>
        <p:nvSpPr>
          <p:cNvPr id="76" name="Google Shape;76;p13">
            <a:extLst xmlns:a="http://schemas.openxmlformats.org/drawingml/2006/main">
              <a:ext uri="{FF2B5EF4-FFF2-40B4-BE49-F238E27FC236}">
                <a16:creationId xmlns:a16="http://schemas.microsoft.com/office/drawing/2014/main" id="{F8B1A152-56DA-421E-9A8F-F03ACDED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825" y="3027750"/>
            <a:ext cx="6100500" cy="1795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天王星像素 11Px"/>
                <a:ea typeface="天王星像素 11Px"/>
                <a:cs typeface="天王星像素 11Px"/>
              </a:defRPr>
            </a:pPr>
            <a:r>
              <a:rPr sz="2300" b="1">
                <a:solidFill>
                  <a:srgbClr val="FFD35C"/>
                </a:solidFill>
                <a:latin typeface="天王星像素 11Px"/>
                <a:ea typeface="天王星像素 11Px"/>
                <a:cs typeface="天王星像素 11Px"/>
              </a:rPr>
              <a:t>有福同享有难退队</a:t>
            </a:r>
            <a:endParaRPr sz="2300" b="1">
              <a:solidFill>
                <a:srgbClr val="FFD35C"/>
              </a:solidFill>
            </a:endParaRPr>
          </a:p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b="1">
              <a:solidFill>
                <a:srgbClr val="FFD35C"/>
              </a:solidFill>
            </a:endParaRPr>
          </a:p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天王星像素 11Px"/>
                <a:ea typeface="天王星像素 11Px"/>
                <a:cs typeface="天王星像素 11Px"/>
              </a:defRPr>
            </a:pPr>
            <a:r>
              <a:rPr sz="2300" b="1">
                <a:solidFill>
                  <a:srgbClr val="FFD35C"/>
                </a:solidFill>
                <a:latin typeface="天王星像素 11Px"/>
                <a:ea typeface="天王星像素 11Px"/>
                <a:cs typeface="天王星像素 11Px"/>
              </a:rPr>
              <a:t>(不是 怎么真退队啊)</a:t>
            </a:r>
            <a:endParaRPr sz="2300" b="1">
              <a:solidFill>
                <a:srgbClr val="FFD35C"/>
              </a:solidFill>
            </a:endParaRPr>
          </a:p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天王星像素 11Px"/>
                <a:ea typeface="天王星像素 11Px"/>
                <a:cs typeface="天王星像素 11Px"/>
              </a:defRPr>
            </a:pPr>
            <a:r>
              <a:rPr sz="2300" b="1">
                <a:solidFill>
                  <a:srgbClr val="C80000"/>
                </a:solidFill>
                <a:latin typeface="天王星像素 11Px"/>
                <a:ea typeface="天王星像素 11Px"/>
                <a:cs typeface="天王星像素 11Px"/>
              </a:rPr>
              <a:t>      </a:t>
            </a:r>
            <a:endParaRPr sz="2300" b="1">
              <a:solidFill>
                <a:srgbClr val="C8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9040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Google Shape;90;p15">
            <a:extLst xmlns:a="http://schemas.openxmlformats.org/drawingml/2006/main">
              <a:ext uri="{FF2B5EF4-FFF2-40B4-BE49-F238E27FC236}">
                <a16:creationId xmlns:a16="http://schemas.microsoft.com/office/drawing/2014/main" id="{1F910227-F401-4B33-8741-D76F582F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91" name="Google Shape;91;p15">
            <a:extLst xmlns:a="http://schemas.openxmlformats.org/drawingml/2006/main">
              <a:ext uri="{FF2B5EF4-FFF2-40B4-BE49-F238E27FC236}">
                <a16:creationId xmlns:a16="http://schemas.microsoft.com/office/drawing/2014/main" id="{76170521-32D1-4E02-9B8E-59DD0D29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03 / 08</a:t>
            </a:r>
          </a:p>
        </p:txBody>
      </p:sp>
      <p:sp>
        <p:nvSpPr>
          <p:cNvPr id="92" name="Google Shape;92;p15">
            <a:extLst xmlns:a="http://schemas.openxmlformats.org/drawingml/2006/main">
              <a:ext uri="{FF2B5EF4-FFF2-40B4-BE49-F238E27FC236}">
                <a16:creationId xmlns:a16="http://schemas.microsoft.com/office/drawing/2014/main" id="{2C399D08-A6CD-4436-8553-3FEA79A1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作品简介</a:t>
            </a:r>
            <a:endParaRPr sz="2600" b="1">
              <a:solidFill>
                <a:srgbClr val="C0504D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93" name="Google Shape;93;p15">
            <a:extLst xmlns:a="http://schemas.openxmlformats.org/drawingml/2006/main">
              <a:ext uri="{FF2B5EF4-FFF2-40B4-BE49-F238E27FC236}">
                <a16:creationId xmlns:a16="http://schemas.microsoft.com/office/drawing/2014/main" id="{D0F2662E-D65C-4005-84DF-63980F57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86" y="1200150"/>
            <a:ext cx="789994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7"/>
              </a:spcAft>
              <a:buNone/>
            </a:pPr>
            <a:r>
              <a:rPr sz="1400">
                <a:solidFill>
                  <a:srgbClr val="777777"/>
                </a:solidFill>
                <a:latin typeface="Noto Sans TC"/>
                <a:ea typeface="Noto Sans TC"/>
                <a:cs typeface="Noto Sans TC"/>
              </a:rPr>
              <a:t>有福同享有难退队｜《咕咕啾啾》</a:t>
            </a:r>
          </a:p>
          <a:p xmlns:a="http://schemas.openxmlformats.org/drawingml/2006/main">
            <a:pPr algn="l">
              <a:spcAft>
                <a:spcPts val="3"/>
              </a:spcAft>
              <a:buNone/>
            </a:pPr>
            <a:r>
              <a:rPr sz="23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01  鸟类题材</a:t>
            </a:r>
          </a:p>
          <a:p xmlns:a="http://schemas.openxmlformats.org/drawingml/2006/main">
            <a:pPr algn="l">
              <a:spcAft>
                <a:spcPts val="18"/>
              </a:spcAft>
              <a:buNone/>
            </a:pPr>
            <a:r>
              <a:rPr sz="17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借势中文互联网的观鸟热潮，吸引用户关注</a:t>
            </a:r>
          </a:p>
          <a:p xmlns:a="http://schemas.openxmlformats.org/drawingml/2006/main">
            <a:pPr algn="l">
              <a:spcAft>
                <a:spcPts val="3"/>
              </a:spcAft>
              <a:buNone/>
            </a:pPr>
            <a:r>
              <a:rPr sz="23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02  技能扫雷 + 肉鸽</a:t>
            </a:r>
          </a:p>
          <a:p xmlns:a="http://schemas.openxmlformats.org/drawingml/2006/main">
            <a:pPr algn="l">
              <a:spcAft>
                <a:spcPts val="23"/>
              </a:spcAft>
              <a:buNone/>
            </a:pPr>
            <a:r>
              <a:rPr sz="17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用技能与局内成长，改造传统扫雷体验</a:t>
            </a:r>
          </a:p>
          <a:p xmlns:a="http://schemas.openxmlformats.org/drawingml/2006/main">
            <a:pPr algn="l">
              <a:spcAft>
                <a:spcPts val="4"/>
              </a:spcAft>
              <a:buNone/>
            </a:pPr>
            <a:r>
              <a:rPr sz="1400" b="1">
                <a:solidFill>
                  <a:srgbClr val="777777"/>
                </a:solidFill>
                <a:latin typeface="Noto Sans TC"/>
                <a:ea typeface="Noto Sans TC"/>
                <a:cs typeface="Noto Sans TC"/>
              </a:rPr>
              <a:t>核心体验</a:t>
            </a:r>
          </a:p>
          <a:p xmlns:a="http://schemas.openxmlformats.org/drawingml/2006/main">
            <a:pPr algn="l">
              <a:buNone/>
            </a:pPr>
            <a:r>
              <a:rPr sz="27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让不会扫雷的人敢玩，让扫雷高手玩爽。</a:t>
            </a:r>
          </a:p>
        </p:txBody>
      </p:sp>
      <p:sp>
        <p:nvSpPr>
          <p:cNvPr id="94" name="Google Shape;94;p15">
            <a:extLst xmlns:a="http://schemas.openxmlformats.org/drawingml/2006/main">
              <a:ext uri="{FF2B5EF4-FFF2-40B4-BE49-F238E27FC236}">
                <a16:creationId xmlns:a16="http://schemas.microsoft.com/office/drawing/2014/main" id="{C3F1E8EF-5EAF-4900-B06D-9E43410C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8286790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Google Shape;99;p16">
            <a:extLst xmlns:a="http://schemas.openxmlformats.org/drawingml/2006/main">
              <a:ext uri="{FF2B5EF4-FFF2-40B4-BE49-F238E27FC236}">
                <a16:creationId xmlns:a16="http://schemas.microsoft.com/office/drawing/2014/main" id="{EF3A9242-8103-4A6A-B4B5-088DC96F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00" name="Google Shape;100;p16">
            <a:extLst xmlns:a="http://schemas.openxmlformats.org/drawingml/2006/main">
              <a:ext uri="{FF2B5EF4-FFF2-40B4-BE49-F238E27FC236}">
                <a16:creationId xmlns:a16="http://schemas.microsoft.com/office/drawing/2014/main" id="{13AD93BA-6527-4F99-B294-8CA68AA7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04 / 08</a:t>
            </a:r>
          </a:p>
        </p:txBody>
      </p:sp>
      <p:sp>
        <p:nvSpPr>
          <p:cNvPr id="101" name="Google Shape;101;p16">
            <a:extLst xmlns:a="http://schemas.openxmlformats.org/drawingml/2006/main">
              <a:ext uri="{FF2B5EF4-FFF2-40B4-BE49-F238E27FC236}">
                <a16:creationId xmlns:a16="http://schemas.microsoft.com/office/drawing/2014/main" id="{513543D6-3C0D-4728-9B2B-A52DD82A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如何理解「99」</a:t>
            </a:r>
            <a:endParaRPr sz="2600" b="1">
              <a:solidFill>
                <a:srgbClr val="C0504D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102" name="Google Shape;102;p16">
            <a:extLst xmlns:a="http://schemas.openxmlformats.org/drawingml/2006/main">
              <a:ext uri="{FF2B5EF4-FFF2-40B4-BE49-F238E27FC236}">
                <a16:creationId xmlns:a16="http://schemas.microsoft.com/office/drawing/2014/main" id="{1B1FD6D6-D065-430F-A276-EC049AD3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1240100"/>
            <a:ext cx="78999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我们对「99」的理解是：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是数字、是jiujiu、是救救、是啾啾……还是？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04040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这个理解最终如何变成游戏：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9——作为数字可以出现在很多游戏里：99关、99层和99个boss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但是，有一个1-8都有但绝无9有的游戏！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那就是————扫雷！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既然如此，我们的就给它加上“9”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04040"/>
              </a:solidFill>
              <a:latin typeface="Noto Sans TC"/>
              <a:ea typeface="Noto Sans TC"/>
              <a:cs typeface="Noto Sans TC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9-即本游戏中所有的技能卡牌</a:t>
            </a:r>
          </a:p>
        </p:txBody>
      </p:sp>
      <p:sp>
        <p:nvSpPr>
          <p:cNvPr id="103" name="Google Shape;103;p16">
            <a:extLst xmlns:a="http://schemas.openxmlformats.org/drawingml/2006/main">
              <a:ext uri="{FF2B5EF4-FFF2-40B4-BE49-F238E27FC236}">
                <a16:creationId xmlns:a16="http://schemas.microsoft.com/office/drawing/2014/main" id="{E6164029-1857-4BE4-B817-05EA5572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11447704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Google Shape;108;p17">
            <a:extLst xmlns:a="http://schemas.openxmlformats.org/drawingml/2006/main">
              <a:ext uri="{FF2B5EF4-FFF2-40B4-BE49-F238E27FC236}">
                <a16:creationId xmlns:a16="http://schemas.microsoft.com/office/drawing/2014/main" id="{4B997E19-3F85-43B1-BC0D-8AD75D40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09" name="Google Shape;109;p17">
            <a:extLst xmlns:a="http://schemas.openxmlformats.org/drawingml/2006/main">
              <a:ext uri="{FF2B5EF4-FFF2-40B4-BE49-F238E27FC236}">
                <a16:creationId xmlns:a16="http://schemas.microsoft.com/office/drawing/2014/main" id="{F877FDD6-1BCC-45F5-BD9E-44EAB854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05 / 08</a:t>
            </a:r>
          </a:p>
        </p:txBody>
      </p:sp>
      <p:sp>
        <p:nvSpPr>
          <p:cNvPr id="110" name="Google Shape;110;p17">
            <a:extLst xmlns:a="http://schemas.openxmlformats.org/drawingml/2006/main">
              <a:ext uri="{FF2B5EF4-FFF2-40B4-BE49-F238E27FC236}">
                <a16:creationId xmlns:a16="http://schemas.microsoft.com/office/drawing/2014/main" id="{03D3E636-E778-48C5-9749-8E78CFA1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创意从哪里来</a:t>
            </a:r>
          </a:p>
        </p:txBody>
      </p:sp>
      <p:sp>
        <p:nvSpPr>
          <p:cNvPr id="111" name="Google Shape;111;p17">
            <a:extLst xmlns:a="http://schemas.openxmlformats.org/drawingml/2006/main">
              <a:ext uri="{FF2B5EF4-FFF2-40B4-BE49-F238E27FC236}">
                <a16:creationId xmlns:a16="http://schemas.microsoft.com/office/drawing/2014/main" id="{4C935A86-1747-4F9C-B711-A07806D3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86" y="1381125"/>
            <a:ext cx="35814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buNone/>
            </a:pPr>
            <a:r>
              <a:rPr sz="21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01  《观鸟笔记》</a:t>
            </a:r>
          </a:p>
          <a:p xmlns:a="http://schemas.openxmlformats.org/drawingml/2006/main">
            <a:pPr algn="l">
              <a:spcAft>
                <a:spcPts val="8"/>
              </a:spcAft>
              <a:buNone/>
            </a:pPr>
            <a:r>
              <a:rPr sz="1500" b="1">
                <a:solidFill>
                  <a:srgbClr val="777777"/>
                </a:solidFill>
                <a:latin typeface="Noto Sans TC"/>
                <a:ea typeface="Noto Sans TC"/>
                <a:cs typeface="Noto Sans TC"/>
              </a:rPr>
              <a:t>鸟类题材</a:t>
            </a:r>
          </a:p>
          <a:p xmlns:a="http://schemas.openxmlformats.org/drawingml/2006/main">
            <a:pPr algn="l">
              <a:spcAft>
                <a:spcPts val="10"/>
              </a:spcAft>
              <a:buNone/>
            </a:pPr>
            <a:r>
              <a:rPr sz="16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参考其真实鸟类主题，但改变目标人群与表达方式。</a:t>
            </a:r>
          </a:p>
          <a:p xmlns:a="http://schemas.openxmlformats.org/drawingml/2006/main">
            <a:pPr algn="l">
              <a:spcAft>
                <a:spcPts val="6"/>
              </a:spcAft>
              <a:buNone/>
            </a:pPr>
            <a:r>
              <a:rPr sz="1400">
                <a:solidFill>
                  <a:srgbClr val="555555"/>
                </a:solidFill>
                <a:latin typeface="Noto Sans TC"/>
                <a:ea typeface="Noto Sans TC"/>
                <a:cs typeface="Noto Sans TC"/>
              </a:rPr>
              <a:t>《观鸟笔记》：还原鸟类生态与行为，面向深度观鸟爱好者</a:t>
            </a:r>
          </a:p>
          <a:p xmlns:a="http://schemas.openxmlformats.org/drawingml/2006/main">
            <a:pPr algn="l">
              <a:spcAft>
                <a:spcPts val="16"/>
              </a:spcAft>
              <a:buNone/>
            </a:pPr>
            <a:r>
              <a:rPr sz="1400">
                <a:solidFill>
                  <a:srgbClr val="555555"/>
                </a:solidFill>
                <a:latin typeface="Noto Sans TC"/>
                <a:ea typeface="Noto Sans TC"/>
                <a:cs typeface="Noto Sans TC"/>
              </a:rPr>
              <a:t>《咕咕啾啾》：捕捉大众熟悉的鸟类梗，表达更轻松诙谐</a:t>
            </a:r>
          </a:p>
          <a:p xmlns:a="http://schemas.openxmlformats.org/drawingml/2006/main">
            <a:pPr algn="l">
              <a:buNone/>
            </a:pPr>
            <a:r>
              <a:rPr sz="1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从“专业观鸟”转向“人人都能懂的鸟类趣味”。</a:t>
            </a:r>
          </a:p>
        </p:txBody>
      </p:sp>
      <p:sp>
        <p:nvSpPr>
          <p:cNvPr id="112" name="Google Shape;112;p17">
            <a:extLst xmlns:a="http://schemas.openxmlformats.org/drawingml/2006/main">
              <a:ext uri="{FF2B5EF4-FFF2-40B4-BE49-F238E27FC236}">
                <a16:creationId xmlns:a16="http://schemas.microsoft.com/office/drawing/2014/main" id="{A3EBE90B-4635-4709-B49A-2C3514F0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8FDF373-2D11-4A21-B4A7-C8FFB945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28750"/>
            <a:ext cx="190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F8D0341-AE4B-4443-A633-5E78D235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381125"/>
            <a:ext cx="36671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buNone/>
            </a:pPr>
            <a:r>
              <a:rPr sz="19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02  《战术扫雷：肉鸽 Plus》</a:t>
            </a:r>
          </a:p>
          <a:p xmlns:a="http://schemas.openxmlformats.org/drawingml/2006/main">
            <a:pPr algn="l">
              <a:spcAft>
                <a:spcPts val="8"/>
              </a:spcAft>
              <a:buNone/>
            </a:pPr>
            <a:r>
              <a:rPr sz="1500" b="1">
                <a:solidFill>
                  <a:srgbClr val="777777"/>
                </a:solidFill>
                <a:latin typeface="Noto Sans TC"/>
                <a:ea typeface="Noto Sans TC"/>
                <a:cs typeface="Noto Sans TC"/>
              </a:rPr>
              <a:t>扫雷轻量化</a:t>
            </a:r>
          </a:p>
          <a:p xmlns:a="http://schemas.openxmlformats.org/drawingml/2006/main">
            <a:pPr algn="l">
              <a:spcAft>
                <a:spcPts val="10"/>
              </a:spcAft>
              <a:buNone/>
            </a:pPr>
            <a:r>
              <a:rPr sz="16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参考其降低推理门槛、强化操作反馈的设计思路。</a:t>
            </a:r>
          </a:p>
          <a:p xmlns:a="http://schemas.openxmlformats.org/drawingml/2006/main">
            <a:pPr algn="l">
              <a:spcAft>
                <a:spcPts val="5"/>
              </a:spcAft>
              <a:buNone/>
            </a:pPr>
            <a:r>
              <a:rPr sz="1400">
                <a:solidFill>
                  <a:srgbClr val="555555"/>
                </a:solidFill>
                <a:latin typeface="Noto Sans TC"/>
                <a:ea typeface="Noto Sans TC"/>
                <a:cs typeface="Noto Sans TC"/>
              </a:rPr>
              <a:t>强化推理功能，让玩家更容易获得有效信息</a:t>
            </a:r>
          </a:p>
          <a:p xmlns:a="http://schemas.openxmlformats.org/drawingml/2006/main">
            <a:pPr algn="l">
              <a:spcAft>
                <a:spcPts val="5"/>
              </a:spcAft>
              <a:buNone/>
            </a:pPr>
            <a:r>
              <a:rPr sz="1400">
                <a:solidFill>
                  <a:srgbClr val="555555"/>
                </a:solidFill>
                <a:latin typeface="Noto Sans TC"/>
                <a:ea typeface="Noto Sans TC"/>
                <a:cs typeface="Noto Sans TC"/>
              </a:rPr>
              <a:t>强化翻格过程中的视听与操作反馈</a:t>
            </a:r>
          </a:p>
          <a:p xmlns:a="http://schemas.openxmlformats.org/drawingml/2006/main">
            <a:pPr algn="l">
              <a:spcAft>
                <a:spcPts val="14"/>
              </a:spcAft>
              <a:buNone/>
            </a:pPr>
            <a:r>
              <a:rPr sz="1400">
                <a:solidFill>
                  <a:srgbClr val="555555"/>
                </a:solidFill>
                <a:latin typeface="Noto Sans TC"/>
                <a:ea typeface="Noto Sans TC"/>
                <a:cs typeface="Noto Sans TC"/>
              </a:rPr>
              <a:t>不引入复杂的道具规则；所有道具只服务于翻开格子、标记地雷</a:t>
            </a:r>
          </a:p>
          <a:p xmlns:a="http://schemas.openxmlformats.org/drawingml/2006/main">
            <a:pPr algn="l">
              <a:buNone/>
            </a:pPr>
            <a:r>
              <a:rPr sz="1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不改变扫雷的核心规则，只让推理更轻松、操作更爽快。</a:t>
            </a:r>
          </a:p>
        </p:txBody>
      </p:sp>
    </p:spTree>
    <p:extLst>
      <p:ext uri="{BB962C8B-B14F-4D97-AF65-F5344CB8AC3E}">
        <p14:creationId xmlns:p14="http://schemas.microsoft.com/office/powerpoint/2010/main" val="6921589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Google Shape;117;p18">
            <a:extLst xmlns:a="http://schemas.openxmlformats.org/drawingml/2006/main">
              <a:ext uri="{FF2B5EF4-FFF2-40B4-BE49-F238E27FC236}">
                <a16:creationId xmlns:a16="http://schemas.microsoft.com/office/drawing/2014/main" id="{44D74D65-94B3-4AC5-A548-27441B0F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18" name="Google Shape;118;p18">
            <a:extLst xmlns:a="http://schemas.openxmlformats.org/drawingml/2006/main">
              <a:ext uri="{FF2B5EF4-FFF2-40B4-BE49-F238E27FC236}">
                <a16:creationId xmlns:a16="http://schemas.microsoft.com/office/drawing/2014/main" id="{41EE335C-7F6F-48BB-86B2-F442AA71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05 / 08</a:t>
            </a:r>
          </a:p>
        </p:txBody>
      </p:sp>
      <p:sp>
        <p:nvSpPr>
          <p:cNvPr id="119" name="Google Shape;119;p18">
            <a:extLst xmlns:a="http://schemas.openxmlformats.org/drawingml/2006/main">
              <a:ext uri="{FF2B5EF4-FFF2-40B4-BE49-F238E27FC236}">
                <a16:creationId xmlns:a16="http://schemas.microsoft.com/office/drawing/2014/main" id="{6AB6F73D-2E78-45B8-9F50-C42BC96A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我们做了什么不一样</a:t>
            </a:r>
          </a:p>
        </p:txBody>
      </p:sp>
      <p:sp>
        <p:nvSpPr>
          <p:cNvPr id="120" name="Google Shape;120;p18">
            <a:extLst xmlns:a="http://schemas.openxmlformats.org/drawingml/2006/main">
              <a:ext uri="{FF2B5EF4-FFF2-40B4-BE49-F238E27FC236}">
                <a16:creationId xmlns:a16="http://schemas.microsoft.com/office/drawing/2014/main" id="{AC8F247B-6862-476E-9A73-68BD6BAF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86" y="1381125"/>
            <a:ext cx="36385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buNone/>
            </a:pPr>
            <a:r>
              <a:rPr sz="20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01  轻松爽快的扫雷肉鸽</a:t>
            </a:r>
          </a:p>
          <a:p xmlns:a="http://schemas.openxmlformats.org/drawingml/2006/main">
            <a:pPr algn="l">
              <a:spcAft>
                <a:spcPts val="3"/>
              </a:spcAft>
              <a:buNone/>
            </a:pPr>
            <a:r>
              <a:rPr sz="15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多数扫雷改造倾向于增加规则复杂度</a:t>
            </a:r>
          </a:p>
          <a:p xmlns:a="http://schemas.openxmlformats.org/drawingml/2006/main">
            <a:pPr algn="l">
              <a:spcAft>
                <a:spcPts val="10"/>
              </a:spcAft>
              <a:buNone/>
            </a:pPr>
            <a:r>
              <a:rPr sz="15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我们反其道而行：</a:t>
            </a:r>
          </a:p>
          <a:p xmlns:a="http://schemas.openxmlformats.org/drawingml/2006/main">
            <a:pPr algn="l">
              <a:spcAft>
                <a:spcPts val="5"/>
              </a:spcAft>
              <a:buNone/>
            </a:pPr>
            <a:r>
              <a:rPr sz="1400">
                <a:solidFill>
                  <a:srgbClr val="555555"/>
                </a:solidFill>
                <a:latin typeface="Noto Sans TC"/>
                <a:ea typeface="Noto Sans TC"/>
                <a:cs typeface="Noto Sans TC"/>
              </a:rPr>
              <a:t>技能强化推理能力，降低理解与操作门槛</a:t>
            </a:r>
          </a:p>
          <a:p xmlns:a="http://schemas.openxmlformats.org/drawingml/2006/main">
            <a:pPr algn="l">
              <a:spcAft>
                <a:spcPts val="18"/>
              </a:spcAft>
              <a:buNone/>
            </a:pPr>
            <a:r>
              <a:rPr sz="1400">
                <a:solidFill>
                  <a:srgbClr val="555555"/>
                </a:solidFill>
                <a:latin typeface="Noto Sans TC"/>
                <a:ea typeface="Noto Sans TC"/>
                <a:cs typeface="Noto Sans TC"/>
              </a:rPr>
              <a:t>放大连续翻格、快速清场的爽感</a:t>
            </a:r>
          </a:p>
          <a:p xmlns:a="http://schemas.openxmlformats.org/drawingml/2006/main">
            <a:pPr algn="l">
              <a:buNone/>
            </a:pPr>
            <a:r>
              <a:rPr sz="17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我们做的不是更复杂的益智游戏，而是一款以扫雷为核心的爽快肉鸽。</a:t>
            </a:r>
          </a:p>
        </p:txBody>
      </p:sp>
      <p:sp>
        <p:nvSpPr>
          <p:cNvPr id="121" name="Google Shape;121;p18">
            <a:extLst xmlns:a="http://schemas.openxmlformats.org/drawingml/2006/main">
              <a:ext uri="{FF2B5EF4-FFF2-40B4-BE49-F238E27FC236}">
                <a16:creationId xmlns:a16="http://schemas.microsoft.com/office/drawing/2014/main" id="{9B41C3CA-8F75-4B60-976D-DE2059ED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37F977B-8123-424F-81B1-0B53DEC2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28750"/>
            <a:ext cx="190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ADD520E-10E8-4D12-8F40-FAA511B5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381125"/>
            <a:ext cx="366712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buNone/>
            </a:pPr>
            <a:r>
              <a:rPr sz="20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02  有热度、有梗的鸟类包装</a:t>
            </a:r>
          </a:p>
          <a:p xmlns:a="http://schemas.openxmlformats.org/drawingml/2006/main">
            <a:pPr algn="l">
              <a:spcAft>
                <a:spcPts val="12"/>
              </a:spcAft>
              <a:buNone/>
            </a:pPr>
            <a:r>
              <a:rPr sz="15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《观鸟笔记》的成功证明鸟类题材拥有稳定的核心受众；鸟类梗在 B 站等平台的传播热度，则提供了进一步破圈的可能。</a:t>
            </a:r>
          </a:p>
          <a:p xmlns:a="http://schemas.openxmlformats.org/drawingml/2006/main">
            <a:pPr algn="l">
              <a:spcAft>
                <a:spcPts val="18"/>
              </a:spcAft>
              <a:buNone/>
            </a:pPr>
            <a:r>
              <a:rPr sz="1400">
                <a:solidFill>
                  <a:srgbClr val="555555"/>
                </a:solidFill>
                <a:latin typeface="Noto Sans TC"/>
                <a:ea typeface="Noto Sans TC"/>
                <a:cs typeface="Noto Sans TC"/>
              </a:rPr>
              <a:t>我们不追求硬核生态还原，而是选择更轻松、诙谐、易传播的表达方式，让扫雷肉鸽获得更鲜明的识别度。</a:t>
            </a:r>
          </a:p>
          <a:p xmlns:a="http://schemas.openxmlformats.org/drawingml/2006/main">
            <a:pPr algn="l">
              <a:buNone/>
            </a:pPr>
            <a:r>
              <a:rPr sz="17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核心爱好者提供基本盘，互联网鸟梗提供破圈可能。</a:t>
            </a:r>
          </a:p>
        </p:txBody>
      </p:sp>
    </p:spTree>
    <p:extLst>
      <p:ext uri="{BB962C8B-B14F-4D97-AF65-F5344CB8AC3E}">
        <p14:creationId xmlns:p14="http://schemas.microsoft.com/office/powerpoint/2010/main" val="1975840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Google Shape;126;p19">
            <a:extLst xmlns:a="http://schemas.openxmlformats.org/drawingml/2006/main">
              <a:ext uri="{FF2B5EF4-FFF2-40B4-BE49-F238E27FC236}">
                <a16:creationId xmlns:a16="http://schemas.microsoft.com/office/drawing/2014/main" id="{89B89605-2F0D-4E6A-BE4A-956F29C9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27" name="Google Shape;127;p19">
            <a:extLst xmlns:a="http://schemas.openxmlformats.org/drawingml/2006/main">
              <a:ext uri="{FF2B5EF4-FFF2-40B4-BE49-F238E27FC236}">
                <a16:creationId xmlns:a16="http://schemas.microsoft.com/office/drawing/2014/main" id="{785B48A9-6CD6-480E-8CDB-282109DA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05 / 08</a:t>
            </a:r>
          </a:p>
        </p:txBody>
      </p:sp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E38A0738-483E-413B-9C73-9A8A406F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技术创新：高低搭配的美术生产管线</a:t>
            </a:r>
          </a:p>
        </p:txBody>
      </p:sp>
      <p:sp>
        <p:nvSpPr>
          <p:cNvPr id="129" name="Google Shape;129;p19">
            <a:extLst xmlns:a="http://schemas.openxmlformats.org/drawingml/2006/main">
              <a:ext uri="{FF2B5EF4-FFF2-40B4-BE49-F238E27FC236}">
                <a16:creationId xmlns:a16="http://schemas.microsoft.com/office/drawing/2014/main" id="{50A32174-FC6D-4484-8D6F-A704F1E7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86" y="1381125"/>
            <a:ext cx="789994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</a:pPr>
            <a:r>
              <a:rPr sz="20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01  重要资源：用质量换效果</a:t>
            </a:r>
          </a:p>
          <a:p xmlns:a="http://schemas.openxmlformats.org/drawingml/2006/main">
            <a:pPr algn="l">
              <a:spcAft>
                <a:spcPts val="18"/>
              </a:spcAft>
            </a:pPr>
            <a:r>
              <a:rPr sz="16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关键视觉资源使用 GPT Image 2，通过多轮尝试、精调与试错，保证最终画面的完成度。</a:t>
            </a:r>
          </a:p>
          <a:p xmlns:a="http://schemas.openxmlformats.org/drawingml/2006/main">
            <a:pPr algn="l">
              <a:spcAft>
                <a:spcPts val="8"/>
              </a:spcAft>
            </a:pPr>
            <a:r>
              <a:rPr sz="20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02  高频小资源：用本地方案换速度</a:t>
            </a:r>
          </a:p>
          <a:p xmlns:a="http://schemas.openxmlformats.org/drawingml/2006/main">
            <a:pPr algn="l">
              <a:spcAft>
                <a:spcPts val="18"/>
              </a:spcAft>
            </a:pPr>
            <a:r>
              <a:rPr sz="16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针对小图标等高频迭代资源，部署本地 FLUX 快速生图与自动裁切流程；在 RTX 5060 上约 0.8 秒产出一张像素图。</a:t>
            </a:r>
          </a:p>
          <a:p xmlns:a="http://schemas.openxmlformats.org/drawingml/2006/main">
            <a:pPr algn="l"/>
            <a:r>
              <a:rPr sz="20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把精力留给关键画面，把速度留给高频迭代。</a:t>
            </a:r>
          </a:p>
        </p:txBody>
      </p:sp>
      <p:sp>
        <p:nvSpPr>
          <p:cNvPr id="130" name="Google Shape;130;p19">
            <a:extLst xmlns:a="http://schemas.openxmlformats.org/drawingml/2006/main">
              <a:ext uri="{FF2B5EF4-FFF2-40B4-BE49-F238E27FC236}">
                <a16:creationId xmlns:a16="http://schemas.microsoft.com/office/drawing/2014/main" id="{78742061-FD33-48C7-BD3C-E9157CA2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6911872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D5FD9F34-3438-4449-9A0B-0AB3115F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36" name="Google Shape;136;p20">
            <a:extLst xmlns:a="http://schemas.openxmlformats.org/drawingml/2006/main">
              <a:ext uri="{FF2B5EF4-FFF2-40B4-BE49-F238E27FC236}">
                <a16:creationId xmlns:a16="http://schemas.microsoft.com/office/drawing/2014/main" id="{8A381800-C683-47E3-8ABC-FB57EBD0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06 / 08</a:t>
            </a:r>
          </a:p>
        </p:txBody>
      </p:sp>
      <p:sp>
        <p:nvSpPr>
          <p:cNvPr id="137" name="Google Shape;137;p20">
            <a:extLst xmlns:a="http://schemas.openxmlformats.org/drawingml/2006/main">
              <a:ext uri="{FF2B5EF4-FFF2-40B4-BE49-F238E27FC236}">
                <a16:creationId xmlns:a16="http://schemas.microsoft.com/office/drawing/2014/main" id="{FAAA074E-2F54-4002-899B-862435DD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核心玩法与设计决策</a:t>
            </a:r>
          </a:p>
        </p:txBody>
      </p:sp>
      <p:sp>
        <p:nvSpPr>
          <p:cNvPr id="138" name="Google Shape;138;p20">
            <a:extLst xmlns:a="http://schemas.openxmlformats.org/drawingml/2006/main">
              <a:ext uri="{FF2B5EF4-FFF2-40B4-BE49-F238E27FC236}">
                <a16:creationId xmlns:a16="http://schemas.microsoft.com/office/drawing/2014/main" id="{5846473C-334D-455E-AE94-B017492B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99" y="1257300"/>
            <a:ext cx="789994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"/>
              </a:spcAft>
            </a:pPr>
            <a:r>
              <a:rPr sz="18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核心循环</a:t>
            </a:r>
          </a:p>
          <a:p xmlns:a="http://schemas.openxmlformats.org/drawingml/2006/main">
            <a:pPr algn="l">
              <a:spcAft>
                <a:spcPts val="20"/>
              </a:spcAft>
            </a:pPr>
            <a:r>
              <a:rPr sz="18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地图选关 → 扫雷与使用技能 → 结算 / 商店强化 → 下一盘 → 通关解锁新关卡</a:t>
            </a:r>
          </a:p>
          <a:p xmlns:a="http://schemas.openxmlformats.org/drawingml/2006/main">
            <a:pPr algn="l">
              <a:spcAft>
                <a:spcPts val="6"/>
              </a:spcAft>
            </a:pPr>
            <a:r>
              <a:rPr sz="18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设计决策 1｜技能服务于爽感，而不是增加规则</a:t>
            </a:r>
          </a:p>
          <a:p xmlns:a="http://schemas.openxmlformats.org/drawingml/2006/main">
            <a:pPr algn="l">
              <a:spcAft>
                <a:spcPts val="16"/>
              </a:spcAft>
            </a:pPr>
            <a:r>
              <a:rPr sz="16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技能强化推理能力，帮助玩家连续翻格、快速清场；玩家始终围绕扫雷本身行动。</a:t>
            </a:r>
          </a:p>
          <a:p xmlns:a="http://schemas.openxmlformats.org/drawingml/2006/main">
            <a:pPr algn="l">
              <a:spcAft>
                <a:spcPts val="6"/>
              </a:spcAft>
            </a:pPr>
            <a:r>
              <a:rPr sz="18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设计决策 2｜用盘面变化制造关卡差异</a:t>
            </a:r>
          </a:p>
          <a:p xmlns:a="http://schemas.openxmlformats.org/drawingml/2006/main">
            <a:pPr algn="l"/>
            <a:r>
              <a:rPr sz="16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通过不同盘面形状、雷数与盘列表组织难度和节奏，在不改变扫雷核心规则的前提下持续提供新鲜感。</a:t>
            </a:r>
          </a:p>
        </p:txBody>
      </p:sp>
      <p:sp>
        <p:nvSpPr>
          <p:cNvPr id="139" name="Google Shape;139;p20">
            <a:extLst xmlns:a="http://schemas.openxmlformats.org/drawingml/2006/main">
              <a:ext uri="{FF2B5EF4-FFF2-40B4-BE49-F238E27FC236}">
                <a16:creationId xmlns:a16="http://schemas.microsoft.com/office/drawing/2014/main" id="{D1A6252D-3AE3-44BB-8B9A-0B4CD4F2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19312728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p21">
            <a:extLst xmlns:a="http://schemas.openxmlformats.org/drawingml/2006/main">
              <a:ext uri="{FF2B5EF4-FFF2-40B4-BE49-F238E27FC236}">
                <a16:creationId xmlns:a16="http://schemas.microsoft.com/office/drawing/2014/main" id="{5229359A-1017-4345-9D2D-900D5DB2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45" name="Google Shape;145;p21">
            <a:extLst xmlns:a="http://schemas.openxmlformats.org/drawingml/2006/main">
              <a:ext uri="{FF2B5EF4-FFF2-40B4-BE49-F238E27FC236}">
                <a16:creationId xmlns:a16="http://schemas.microsoft.com/office/drawing/2014/main" id="{744C9FB7-8704-4F00-B2A6-7666C18E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07 / 08</a:t>
            </a:r>
          </a:p>
        </p:txBody>
      </p:sp>
      <p:sp>
        <p:nvSpPr>
          <p:cNvPr id="146" name="Google Shape;146;p21">
            <a:extLst xmlns:a="http://schemas.openxmlformats.org/drawingml/2006/main">
              <a:ext uri="{FF2B5EF4-FFF2-40B4-BE49-F238E27FC236}">
                <a16:creationId xmlns:a16="http://schemas.microsoft.com/office/drawing/2014/main" id="{F8A2BD45-3823-4E15-AC54-B9565F5D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表现与实现亮点</a:t>
            </a:r>
          </a:p>
        </p:txBody>
      </p:sp>
      <p:sp>
        <p:nvSpPr>
          <p:cNvPr id="147" name="Google Shape;147;p21">
            <a:extLst xmlns:a="http://schemas.openxmlformats.org/drawingml/2006/main">
              <a:ext uri="{FF2B5EF4-FFF2-40B4-BE49-F238E27FC236}">
                <a16:creationId xmlns:a16="http://schemas.microsoft.com/office/drawing/2014/main" id="{2EA11BC9-C005-48A3-B0AB-A29A4D2A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86" y="1333500"/>
            <a:ext cx="789994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</a:pPr>
            <a:r>
              <a:rPr sz="20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01  把每一次翻格都做得有反馈</a:t>
            </a:r>
          </a:p>
          <a:p xmlns:a="http://schemas.openxmlformats.org/drawingml/2006/main">
            <a:pPr algn="l">
              <a:spcAft>
                <a:spcPts val="18"/>
              </a:spcAft>
            </a:pPr>
            <a:r>
              <a:rPr sz="16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翻格由草皮掀飞、内容弹出、碎草、泥块与扬尘等分层效果组成；鼠标拖尾与点击涟漪进一步强化操作手感。</a:t>
            </a:r>
          </a:p>
          <a:p xmlns:a="http://schemas.openxmlformats.org/drawingml/2006/main">
            <a:pPr algn="l">
              <a:spcAft>
                <a:spcPts val="8"/>
              </a:spcAft>
            </a:pPr>
            <a:r>
              <a:rPr sz="20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02  从单局扫雷扩展为完整的关卡旅程</a:t>
            </a:r>
          </a:p>
          <a:p xmlns:a="http://schemas.openxmlformats.org/drawingml/2006/main">
            <a:pPr algn="l">
              <a:spcAft>
                <a:spcPts val="18"/>
              </a:spcAft>
            </a:pPr>
            <a:r>
              <a:rPr sz="1600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世界地图承载选关与解锁。关卡内部由多张异形棋盘、结算与商店串成一局肉鸽流程，并支持中途续玩。</a:t>
            </a:r>
          </a:p>
          <a:p xmlns:a="http://schemas.openxmlformats.org/drawingml/2006/main">
            <a:pPr algn="l"/>
            <a:r>
              <a:rPr sz="20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既让单次点击够爽，也让整段流程有持续推进感。</a:t>
            </a:r>
          </a:p>
        </p:txBody>
      </p:sp>
      <p:sp>
        <p:nvSpPr>
          <p:cNvPr id="148" name="Google Shape;148;p21">
            <a:extLst xmlns:a="http://schemas.openxmlformats.org/drawingml/2006/main">
              <a:ext uri="{FF2B5EF4-FFF2-40B4-BE49-F238E27FC236}">
                <a16:creationId xmlns:a16="http://schemas.microsoft.com/office/drawing/2014/main" id="{491A26F0-5214-44FF-AF26-6463B422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14000335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Google Shape;153;p22">
            <a:extLst xmlns:a="http://schemas.openxmlformats.org/drawingml/2006/main">
              <a:ext uri="{FF2B5EF4-FFF2-40B4-BE49-F238E27FC236}">
                <a16:creationId xmlns:a16="http://schemas.microsoft.com/office/drawing/2014/main" id="{466F4F01-84BD-4D0A-A437-BA52EC32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4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TC"/>
              <a:ea typeface="Noto Sans TC"/>
              <a:cs typeface="Noto Sans TC"/>
            </a:endParaRPr>
          </a:p>
        </p:txBody>
      </p:sp>
      <p:sp>
        <p:nvSpPr>
          <p:cNvPr id="154" name="Google Shape;154;p22">
            <a:extLst xmlns:a="http://schemas.openxmlformats.org/drawingml/2006/main">
              <a:ext uri="{FF2B5EF4-FFF2-40B4-BE49-F238E27FC236}">
                <a16:creationId xmlns:a16="http://schemas.microsoft.com/office/drawing/2014/main" id="{10136441-8E8F-4F60-A987-57D7AA99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190000"/>
            <a:ext cx="9999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666666"/>
                </a:solidFill>
                <a:latin typeface="Noto Sans TC"/>
                <a:ea typeface="Noto Sans TC"/>
                <a:cs typeface="Noto Sans TC"/>
              </a:rPr>
              <a:t>08 / 08</a:t>
            </a:r>
          </a:p>
        </p:txBody>
      </p:sp>
      <p:sp>
        <p:nvSpPr>
          <p:cNvPr id="155" name="Google Shape;155;p22">
            <a:extLst xmlns:a="http://schemas.openxmlformats.org/drawingml/2006/main">
              <a:ext uri="{FF2B5EF4-FFF2-40B4-BE49-F238E27FC236}">
                <a16:creationId xmlns:a16="http://schemas.microsoft.com/office/drawing/2014/main" id="{4EBE0C75-00FD-4CD5-BC80-C94235C7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440000"/>
            <a:ext cx="789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希望评委记住三件事</a:t>
            </a:r>
          </a:p>
        </p:txBody>
      </p:sp>
      <p:sp>
        <p:nvSpPr>
          <p:cNvPr id="156" name="Google Shape;156;p22">
            <a:extLst xmlns:a="http://schemas.openxmlformats.org/drawingml/2006/main">
              <a:ext uri="{FF2B5EF4-FFF2-40B4-BE49-F238E27FC236}">
                <a16:creationId xmlns:a16="http://schemas.microsoft.com/office/drawing/2014/main" id="{DF85E3C6-C15B-49F9-ABFA-EB9565DD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86" y="1476375"/>
            <a:ext cx="789994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8"/>
              </a:spcAft>
            </a:pPr>
            <a:r>
              <a:rPr sz="22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01</a:t>
            </a:r>
            <a:r>
              <a:rPr sz="22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  我们把扫雷做成了一款轻松爽快的肉鸽</a:t>
            </a:r>
          </a:p>
          <a:p xmlns:a="http://schemas.openxmlformats.org/drawingml/2006/main">
            <a:pPr algn="l">
              <a:spcAft>
                <a:spcPts val="18"/>
              </a:spcAft>
            </a:pPr>
            <a:r>
              <a:rPr sz="22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02</a:t>
            </a:r>
            <a:r>
              <a:rPr sz="22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  技能做的是下沉与爽感，而不是规则复杂化</a:t>
            </a:r>
          </a:p>
          <a:p xmlns:a="http://schemas.openxmlformats.org/drawingml/2006/main">
            <a:pPr algn="l">
              <a:spcAft>
                <a:spcPts val="26"/>
              </a:spcAft>
            </a:pPr>
            <a:r>
              <a:rPr sz="22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03</a:t>
            </a:r>
            <a:r>
              <a:rPr sz="2200" b="1">
                <a:solidFill>
                  <a:srgbClr val="404040"/>
                </a:solidFill>
                <a:latin typeface="Noto Sans TC"/>
                <a:ea typeface="Noto Sans TC"/>
                <a:cs typeface="Noto Sans TC"/>
              </a:rPr>
              <a:t>  鸟类核心受众提供基本盘，互联网鸟梗提供破圈可能</a:t>
            </a:r>
          </a:p>
          <a:p xmlns:a="http://schemas.openxmlformats.org/drawingml/2006/main">
            <a:pPr algn="l"/>
            <a:r>
              <a:rPr sz="2500" b="1">
                <a:solidFill>
                  <a:srgbClr val="C6534D"/>
                </a:solidFill>
                <a:latin typeface="Noto Sans TC"/>
                <a:ea typeface="Noto Sans TC"/>
                <a:cs typeface="Noto Sans TC"/>
              </a:rPr>
              <a:t>让不会扫雷的人敢玩，让扫雷高手玩爽。</a:t>
            </a:r>
          </a:p>
        </p:txBody>
      </p:sp>
      <p:sp>
        <p:nvSpPr>
          <p:cNvPr id="157" name="Google Shape;157;p22">
            <a:extLst xmlns:a="http://schemas.openxmlformats.org/drawingml/2006/main">
              <a:ext uri="{FF2B5EF4-FFF2-40B4-BE49-F238E27FC236}">
                <a16:creationId xmlns:a16="http://schemas.microsoft.com/office/drawing/2014/main" id="{C1F67680-1AC5-46BE-935C-C60E6402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4800000"/>
            <a:ext cx="6000000" cy="24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8C8C8C"/>
                </a:solidFill>
                <a:latin typeface="Noto Sans TC"/>
                <a:ea typeface="Noto Sans TC"/>
                <a:cs typeface="Noto Sans TC"/>
              </a:rPr>
              <a:t>2026 Mini Game 二轮评审｜路演辅助材料</a:t>
            </a:r>
          </a:p>
        </p:txBody>
      </p:sp>
    </p:spTree>
    <p:extLst>
      <p:ext uri="{BB962C8B-B14F-4D97-AF65-F5344CB8AC3E}">
        <p14:creationId xmlns:p14="http://schemas.microsoft.com/office/powerpoint/2010/main" val="2123478205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2026-09-01T11:22:01.7800000Z</dcterms:created>
  <dcterms:modified xsi:type="dcterms:W3CDTF">2026-09-01T11:22:01.7800000Z</dcterms:modified>
</coreProperties>
</file>