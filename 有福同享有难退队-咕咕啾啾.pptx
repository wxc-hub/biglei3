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  <p:embeddedFontLst>
    <p:embeddedFont>
      <p:font typeface="Noto Sans TC" panose="020B0200000000000000" charset="-120"/>
      <p:regular r:id="rId16"/>
    </p:embeddedFon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Garamond" panose="02020404030301010803"/>
      <p:regular r:id="rId21"/>
    </p:embeddedFont>
  </p:embeddedFontLst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55787002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855787002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mg_slide_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mg_slide_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mg_slide_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mg_slide_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mg_slide_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mg_slide_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855787002_1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855787002_1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fedcd951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afedcd951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mg_slide_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mg_slide_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mg_slide_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mg_slide_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mg_slide_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mg_slide_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/>
          <a:srcRect l="3201" t="2894" r="3201" b="3129"/>
          <a:stretch>
            <a:fillRect/>
          </a:stretch>
        </p:blipFill>
        <p:spPr>
          <a:xfrm>
            <a:off x="97400" y="4663225"/>
            <a:ext cx="129262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卡通人物&#10;&#10;低可信度描述已自动生成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3741234" cy="24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卡通人物&#10;&#10;低可信度描述已自动生成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24651" y="3090900"/>
            <a:ext cx="3319349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22" name="Google Shape;22;p3"/>
          <p:cNvSpPr/>
          <p:nvPr/>
        </p:nvSpPr>
        <p:spPr>
          <a:xfrm>
            <a:off x="-14" y="733085"/>
            <a:ext cx="8516797" cy="51054"/>
          </a:xfrm>
          <a:custGeom>
            <a:avLst/>
            <a:gdLst/>
            <a:ahLst/>
            <a:cxnLst/>
            <a:rect l="l" t="t" r="r" b="b"/>
            <a:pathLst>
              <a:path w="9436894" h="152400" extrusionOk="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" y="4973814"/>
            <a:ext cx="4999500" cy="11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43400" tIns="45700" rIns="434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6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Private and Confidential</a:t>
            </a:r>
            <a:endParaRPr sz="76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3"/>
          <p:cNvSpPr/>
          <p:nvPr/>
        </p:nvSpPr>
        <p:spPr>
          <a:xfrm rot="10800000">
            <a:off x="-140" y="5124000"/>
            <a:ext cx="9144000" cy="19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86775" tIns="43375" rIns="86775" bIns="43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-14" y="0"/>
            <a:ext cx="4573200" cy="129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86775" tIns="43375" rIns="86775" bIns="43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-14" y="0"/>
            <a:ext cx="9144000" cy="12900"/>
          </a:xfrm>
          <a:prstGeom prst="rect">
            <a:avLst/>
          </a:prstGeom>
          <a:solidFill>
            <a:srgbClr val="A5A5A5">
              <a:alpha val="60780"/>
            </a:srgbClr>
          </a:solidFill>
          <a:ln>
            <a:noFill/>
          </a:ln>
        </p:spPr>
        <p:txBody>
          <a:bodyPr spcFirstLastPara="1" wrap="square" lIns="86775" tIns="43375" rIns="86775" bIns="433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97425" y="290300"/>
            <a:ext cx="5974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253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20204"/>
              <a:buNone/>
            </a:pPr>
            <a:endParaRPr sz="1465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31" name="Google Shape;31;p4"/>
          <p:cNvSpPr txBox="1"/>
          <p:nvPr/>
        </p:nvSpPr>
        <p:spPr>
          <a:xfrm>
            <a:off x="3694675" y="4867535"/>
            <a:ext cx="18093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 panose="02020404030301010803"/>
              <a:buNone/>
            </a:pPr>
            <a:r>
              <a:rPr lang="zh-TW" sz="1065" b="0" i="0" u="none" strike="noStrike" cap="non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Private and Confidential</a:t>
            </a:r>
            <a:endParaRPr sz="1465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2" name="Google Shape;32;p4"/>
          <p:cNvGrpSpPr/>
          <p:nvPr/>
        </p:nvGrpSpPr>
        <p:grpSpPr>
          <a:xfrm>
            <a:off x="1527478" y="610075"/>
            <a:ext cx="6373964" cy="2419702"/>
            <a:chOff x="1749077" y="1810185"/>
            <a:chExt cx="6002980" cy="2362991"/>
          </a:xfrm>
        </p:grpSpPr>
        <p:sp>
          <p:nvSpPr>
            <p:cNvPr id="33" name="Google Shape;33;p4"/>
            <p:cNvSpPr/>
            <p:nvPr/>
          </p:nvSpPr>
          <p:spPr>
            <a:xfrm>
              <a:off x="3599892" y="2923088"/>
              <a:ext cx="21063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Garamond" panose="02020404030301010803"/>
                <a:buNone/>
              </a:pPr>
              <a:r>
                <a:rPr lang="zh-TW" sz="3200" b="0" i="0" u="none" strike="noStrike" cap="none">
                  <a:solidFill>
                    <a:srgbClr val="FFFFFF"/>
                  </a:solidFill>
                  <a:latin typeface="Garamond" panose="02020404030301010803"/>
                  <a:ea typeface="Garamond" panose="02020404030301010803"/>
                  <a:cs typeface="Garamond" panose="02020404030301010803"/>
                  <a:sym typeface="Garamond" panose="02020404030301010803"/>
                </a:rPr>
                <a:t>Thank you!</a:t>
              </a:r>
              <a:endParaRPr sz="3200" b="0" i="0" u="none" strike="noStrike" cap="non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endParaRPr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2551508" y="3673076"/>
              <a:ext cx="13065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aramond" panose="02020404030301010803"/>
                <a:buNone/>
              </a:pPr>
              <a:r>
                <a:rPr lang="zh-TW" sz="3600" b="0" i="0" u="none" strike="noStrike" cap="none">
                  <a:solidFill>
                    <a:srgbClr val="FFFFFF"/>
                  </a:solidFill>
                  <a:latin typeface="Garamond" panose="02020404030301010803"/>
                  <a:ea typeface="Garamond" panose="02020404030301010803"/>
                  <a:cs typeface="Garamond" panose="02020404030301010803"/>
                  <a:sym typeface="Garamond" panose="02020404030301010803"/>
                </a:rPr>
                <a:t>謝謝</a:t>
              </a:r>
              <a:endParaRPr sz="3600" b="0" i="0" u="none" strike="noStrike" cap="non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4802997" y="3673076"/>
              <a:ext cx="23985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Garamond" panose="02020404030301010803"/>
                <a:buNone/>
              </a:pPr>
              <a:r>
                <a:rPr lang="zh-TW" sz="2800" b="0" i="0" u="none" strike="noStrike" cap="none">
                  <a:solidFill>
                    <a:srgbClr val="FFFFFF"/>
                  </a:solidFill>
                  <a:latin typeface="Garamond" panose="02020404030301010803"/>
                  <a:ea typeface="Garamond" panose="02020404030301010803"/>
                  <a:cs typeface="Garamond" panose="02020404030301010803"/>
                  <a:sym typeface="Garamond" panose="02020404030301010803"/>
                </a:rPr>
                <a:t>Terima kasih</a:t>
              </a:r>
              <a:endParaRPr sz="106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" name="Google Shape;36;p4"/>
            <p:cNvSpPr txBox="1"/>
            <p:nvPr/>
          </p:nvSpPr>
          <p:spPr>
            <a:xfrm>
              <a:off x="4927781" y="1810185"/>
              <a:ext cx="22737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 panose="020B0604020202020204"/>
                <a:buNone/>
              </a:pPr>
              <a:r>
                <a:rPr lang="zh-TW" sz="28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Cảm ơn bạn</a:t>
              </a:r>
              <a:endParaRPr sz="2800" b="0" i="0" u="none" strike="noStrike" cap="non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endParaRPr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1749077" y="2693437"/>
              <a:ext cx="14055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Garamond" panose="02020404030301010803"/>
                <a:buNone/>
              </a:pPr>
              <a:r>
                <a:rPr lang="zh-TW" sz="2800" b="0" i="0" u="none" strike="noStrike" cap="none">
                  <a:solidFill>
                    <a:srgbClr val="FFFFFF"/>
                  </a:solidFill>
                  <a:latin typeface="Garamond" panose="02020404030301010803"/>
                  <a:ea typeface="Garamond" panose="02020404030301010803"/>
                  <a:cs typeface="Garamond" panose="02020404030301010803"/>
                  <a:sym typeface="Garamond" panose="02020404030301010803"/>
                </a:rPr>
                <a:t>Salamat</a:t>
              </a:r>
              <a:endParaRPr sz="106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" name="Google Shape;38;p4"/>
            <p:cNvSpPr txBox="1"/>
            <p:nvPr/>
          </p:nvSpPr>
          <p:spPr>
            <a:xfrm>
              <a:off x="5723457" y="2623613"/>
              <a:ext cx="20286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 panose="020F0502020204030204"/>
                <a:buNone/>
              </a:pPr>
              <a:r>
                <a:rPr lang="zh-TW" sz="2800" b="1" i="0" u="none" strike="noStrike" cap="non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r>
                <a:rPr lang="zh-TW" sz="2800" b="1" i="0" u="none" strike="noStrike" cap="non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감</a:t>
              </a:r>
              <a:r>
                <a:rPr lang="zh-TW" sz="2800" b="1" i="0" u="none" strike="noStrike" cap="non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사합니다</a:t>
              </a:r>
              <a:endParaRPr sz="28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53930" y="1926420"/>
              <a:ext cx="2333700" cy="65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100"/>
                <a:buFont typeface="Calibri" panose="020F0502020204030204"/>
                <a:buNone/>
              </a:pPr>
              <a:r>
                <a:rPr lang="zh-TW" sz="5065" b="0" i="0" u="none" strike="noStrike" cap="none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ขอบคุณ</a:t>
              </a:r>
              <a:endParaRPr sz="5065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40" name="Google Shape;40;p4"/>
          <p:cNvCxnSpPr/>
          <p:nvPr/>
        </p:nvCxnSpPr>
        <p:spPr>
          <a:xfrm>
            <a:off x="1007269" y="3347117"/>
            <a:ext cx="71295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" name="Google Shape;51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4" name="Google Shape;64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 panose="020B0200000000000000" charset="-120"/>
              <a:buNone/>
              <a:defRPr sz="2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 panose="020B0200000000000000" charset="-120"/>
              <a:buChar char="●"/>
              <a:defRPr sz="18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○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■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●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○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■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●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○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 panose="020B0200000000000000" charset="-120"/>
              <a:buChar char="■"/>
              <a:defRPr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9" name="Google Shape;9;p1"/>
          <p:cNvSpPr/>
          <p:nvPr/>
        </p:nvSpPr>
        <p:spPr>
          <a:xfrm>
            <a:off x="-460825" y="0"/>
            <a:ext cx="334500" cy="141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-460825" y="185825"/>
            <a:ext cx="334500" cy="1413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460825" y="371650"/>
            <a:ext cx="334500" cy="14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-460825" y="557475"/>
            <a:ext cx="334500" cy="141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460825" y="743300"/>
            <a:ext cx="334500" cy="1413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460825" y="929125"/>
            <a:ext cx="334500" cy="14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/>
        </p:nvSpPr>
        <p:spPr>
          <a:xfrm>
            <a:off x="927300" y="1891425"/>
            <a:ext cx="7289400" cy="1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 b="1">
                <a:solidFill>
                  <a:srgbClr val="FFD35C"/>
                </a:solidFill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614825" y="3027750"/>
            <a:ext cx="61005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>
                <a:solidFill>
                  <a:srgbClr val="FFD35C"/>
                </a:solidFill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>
                <a:solidFill>
                  <a:srgbClr val="FFD35C"/>
                </a:solidFill>
              </a:rPr>
              <a:t>(</a:t>
            </a:r>
            <a:r>
              <a:rPr lang="zh-TW" sz="2300" b="1">
                <a:solidFill>
                  <a:srgbClr val="FFD35C"/>
                </a:solidFill>
              </a:rPr>
              <a:t>不是 怎么真退队啊)</a:t>
            </a:r>
            <a:endParaRPr sz="2300" b="1">
              <a:solidFill>
                <a:srgbClr val="FFD35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>
                <a:solidFill>
                  <a:srgbClr val="C80000"/>
                </a:solidFill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03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作品简介</a:t>
            </a:r>
            <a:endParaRPr sz="2600" b="1">
              <a:solidFill>
                <a:srgbClr val="C0504D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50000" y="109505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队伍名称：有福同享有难退队</a:t>
            </a:r>
            <a:endParaRPr sz="1500">
              <a:solidFill>
                <a:srgbClr val="434343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34343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作品名称：咕咕啾啾</a:t>
            </a:r>
            <a:endParaRPr sz="1500">
              <a:solidFill>
                <a:srgbClr val="434343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一句话介绍：技能扫雷</a:t>
            </a:r>
            <a:endParaRPr sz="1500"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核心体验：</a:t>
            </a:r>
            <a:endParaRPr sz="1500"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让不会玩扫雷的人玩起来</a:t>
            </a:r>
            <a:endParaRPr sz="1500"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让扫雷高手爽起来</a:t>
            </a:r>
            <a:endParaRPr sz="1500"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实机展示：</a:t>
            </a:r>
            <a:endParaRPr sz="15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04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650000" y="12401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我们对「99」的理解是：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是数字、是jiujiu、是救救、是啾啾……还是？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这个理解最终如何变成游戏：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9——作为数字可以出现在很多游戏里：99关、99层和99个boss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但是，有一个1-8都有但绝无9有的游戏！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那就是————扫雷！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既然如此，我们的就给它加上“9”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9-即本游戏中所有的技能卡牌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05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创意从哪里来</a:t>
            </a:r>
            <a:r>
              <a:rPr lang="zh-TW" sz="2600" b="1">
                <a:solidFill>
                  <a:srgbClr val="C0504D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【必填】</a:t>
            </a:r>
            <a:endParaRPr sz="2600" b="1">
              <a:solidFill>
                <a:srgbClr val="C0504D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灵感 / 参考来源：________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我们参考或受到启发的部分：________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在本作中的变化：________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可来自游戏、影视、现实经历、玩法机制、题材、美术风格等。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如参考过已有游戏，请直接写出作品名称及具体参考内容。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05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我们做了什么不一样</a:t>
            </a:r>
            <a:r>
              <a:rPr lang="zh-TW" sz="2600" b="1">
                <a:solidFill>
                  <a:srgbClr val="C0504D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——游戏机制</a:t>
            </a:r>
            <a:endParaRPr sz="2600" b="1">
              <a:solidFill>
                <a:srgbClr val="C0504D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创新点 1｜</a:t>
            </a: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游戏机制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它是什么？与已有作品 / 常见做法相比，哪里不同？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创新点 2｜________（如有）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它是什么？为什么这样设计？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创新点 3｜________（如有）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它给实际游戏体验带来了什么变化？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05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我们做了什么不一样</a:t>
            </a:r>
            <a:r>
              <a:rPr lang="zh-TW" sz="2600" b="1">
                <a:solidFill>
                  <a:srgbClr val="C0504D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——</a:t>
            </a:r>
            <a:r>
              <a:rPr lang="zh-TW" sz="2600" b="1">
                <a:solidFill>
                  <a:srgbClr val="C0504D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技术创新</a:t>
            </a:r>
            <a:endParaRPr sz="2600" b="1">
              <a:solidFill>
                <a:srgbClr val="C0504D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650000" y="14500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对于有高品质要求的美术资源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04040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我是GPT Image 2多次尝试、精调、试错。对于要求不高的美术资源，我部署了一个本地快速生图方案，就是我那天在群里说的，通过模型裁切，用FLUX模型在5060显卡上做到0.8s一张像素画，从而实现小Icon的快速产出</a:t>
            </a:r>
            <a:endParaRPr>
              <a:solidFill>
                <a:srgbClr val="404040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06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核心玩法与设计决策</a:t>
            </a:r>
            <a:r>
              <a:rPr lang="zh-TW" sz="2600" b="1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【选填】</a:t>
            </a:r>
            <a:endParaRPr sz="2600" b="1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677775" y="1240100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核心玩法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请用一句简单流程描述游戏循环：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________ → ________ → ________ → 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我们最重要的玩法决策【选填】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设计决策 1｜________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为什么这样设计：________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希望给玩家带来的体验：________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设计决策 2｜________（如有）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为什么这样设计：________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07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表现与实现亮点【选填】</a:t>
            </a:r>
            <a:endParaRPr sz="2600" b="1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50000" y="1158475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不需要面面俱到，请选择本作最值得评委关注的 1–2 项。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可选方向：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技术实现 / 特殊系统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美术风格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动画与视觉反馈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音乐 / 音效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操作与交互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AI 工具或特殊开发方式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其他实现难点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亮点 1｜________  简要说明：________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亮点 2｜________  简要说明：________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/>
          <p:nvPr/>
        </p:nvSpPr>
        <p:spPr>
          <a:xfrm>
            <a:off x="0" y="0"/>
            <a:ext cx="9144000" cy="1401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610000" y="190000"/>
            <a:ext cx="999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666666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08 / 08</a:t>
            </a:r>
            <a:endParaRPr sz="900">
              <a:solidFill>
                <a:srgbClr val="666666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610000" y="440000"/>
            <a:ext cx="78999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希望评委记住……【选填】</a:t>
            </a:r>
            <a:endParaRPr sz="2600" b="1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50000" y="1408375"/>
            <a:ext cx="78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如果路演结束后，只希望评委记住这个作品的 3 件事：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01｜________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02｜________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03｜________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建议节奏：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作品简介 + 核心体验：30 秒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主题理解与体现：1 分钟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灵感来源 + 创新点：1 分 30 秒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核心玩法与设计决策：1 分钟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• 表现 / 技术亮点 + 总结：1 分钟</a:t>
            </a:r>
            <a:endParaRPr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50000" y="4800000"/>
            <a:ext cx="6000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8C8C8C"/>
                </a:solidFill>
                <a:latin typeface="Noto Sans TC" panose="020B0200000000000000" charset="-120"/>
                <a:ea typeface="Noto Sans TC" panose="020B0200000000000000" charset="-120"/>
                <a:cs typeface="Noto Sans TC" panose="020B0200000000000000" charset="-120"/>
                <a:sym typeface="Noto Sans TC" panose="020B0200000000000000" charset="-120"/>
              </a:rPr>
              <a:t>2026 Mini Game 二轮评审｜路演辅助材料</a:t>
            </a:r>
            <a:endParaRPr sz="800">
              <a:solidFill>
                <a:srgbClr val="8C8C8C"/>
              </a:solidFill>
              <a:latin typeface="Noto Sans TC" panose="020B0200000000000000" charset="-120"/>
              <a:ea typeface="Noto Sans TC" panose="020B0200000000000000" charset="-120"/>
              <a:cs typeface="Noto Sans TC" panose="020B0200000000000000" charset="-120"/>
              <a:sym typeface="Noto Sans TC" panose="020B0200000000000000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FmMjcyYWIyNjg4Y2I0NzBhYmRlNjhmOWVkMjk2ZjcifQ==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</Words>
  <Application>WPS 演示</Application>
  <PresentationFormat/>
  <Paragraphs>137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TC</vt:lpstr>
      <vt:lpstr>Calibri</vt:lpstr>
      <vt:lpstr>Palatino Linotype</vt:lpstr>
      <vt:lpstr>Garamond</vt:lpstr>
      <vt:lpstr>微软雅黑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 Xiangchen</cp:lastModifiedBy>
  <cp:revision>1</cp:revision>
  <dcterms:created xsi:type="dcterms:W3CDTF">2026-09-01T08:59:50Z</dcterms:created>
  <dcterms:modified xsi:type="dcterms:W3CDTF">2026-09-01T08:59:52Z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5206DCAB9A5F44ADA994292753A58381_13</vt:lpwstr>
  </property>
  <property fmtid="{D5CDD505-2E9C-101B-9397-08002B2CF9AE}" pid="3" name="KSOProductBuildVer">
    <vt:lpwstr>2052-12.1.0.16120</vt:lpwstr>
  </property>
</Properties>
</file>