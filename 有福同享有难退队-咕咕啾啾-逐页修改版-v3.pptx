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94e77c1ab04b71" /><Relationship Type="http://schemas.openxmlformats.org/officeDocument/2006/relationships/extended-properties" Target="/docProps/app.xml" Id="R30c2338109174af2" /><Relationship Type="http://schemas.openxmlformats.org/officeDocument/2006/relationships/officeDocument" Target="/ppt/presentation.xml" Id="Rce607d4a4e6e429b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a8cc7069e4184690"/>
  </p:sldMasterIdLst>
  <p:notesMasterIdLst>
    <p:notesMasterId xmlns:r="http://schemas.openxmlformats.org/officeDocument/2006/relationships" r:id="Rec90c655b566448d"/>
  </p:notesMasterIdLst>
  <p:sldIdLst>
    <p:sldId xmlns:r="http://schemas.openxmlformats.org/officeDocument/2006/relationships" id="256" r:id="Rd7f71df5a7714cbc"/>
    <p:sldId xmlns:r="http://schemas.openxmlformats.org/officeDocument/2006/relationships" id="257" r:id="R029162cc74364efd"/>
    <p:sldId xmlns:r="http://schemas.openxmlformats.org/officeDocument/2006/relationships" id="258" r:id="R120cc016febf4506"/>
    <p:sldId xmlns:r="http://schemas.openxmlformats.org/officeDocument/2006/relationships" id="259" r:id="Rf0fd30f2a7394d7a"/>
    <p:sldId xmlns:r="http://schemas.openxmlformats.org/officeDocument/2006/relationships" id="260" r:id="Ra5e1c810acd64692"/>
    <p:sldId xmlns:r="http://schemas.openxmlformats.org/officeDocument/2006/relationships" id="261" r:id="Rf0cf168157c54f6f"/>
    <p:sldId xmlns:r="http://schemas.openxmlformats.org/officeDocument/2006/relationships" id="262" r:id="Rbb7c20978afa487c"/>
    <p:sldId xmlns:r="http://schemas.openxmlformats.org/officeDocument/2006/relationships" id="263" r:id="R9f22a86052db40ce"/>
    <p:sldId xmlns:r="http://schemas.openxmlformats.org/officeDocument/2006/relationships" id="264" r:id="R43aec6145107490d"/>
  </p:sldIdLst>
  <p:sldSz cx="9144000" cy="5143500"/>
  <p:notesSz cx="6858000" cy="9144000"/>
  <p:embeddedFontLst>
    <p:embeddedFont>
      <p:font typeface="Garamond"/>
      <p:regular xmlns:r="http://schemas.openxmlformats.org/officeDocument/2006/relationships" r:id="R20c8b21561ae4e78"/>
      <p:bold xmlns:r="http://schemas.openxmlformats.org/officeDocument/2006/relationships" r:id="R88b461bf49ae41b3"/>
      <p:italic xmlns:r="http://schemas.openxmlformats.org/officeDocument/2006/relationships" r:id="Rc43fc64037dc4821"/>
    </p:embeddedFont>
    <p:embeddedFont>
      <p:font typeface="Noto Sans TC"/>
      <p:regular xmlns:r="http://schemas.openxmlformats.org/officeDocument/2006/relationships" r:id="R3f31293af3864696"/>
      <p:bold xmlns:r="http://schemas.openxmlformats.org/officeDocument/2006/relationships" r:id="R5bdae3db32104d49"/>
    </p:embeddedFont>
    <p:embeddedFont>
      <p:font typeface="Palatino Linotype"/>
      <p:regular xmlns:r="http://schemas.openxmlformats.org/officeDocument/2006/relationships" r:id="Rda8dcdff48c54a30"/>
      <p:bold xmlns:r="http://schemas.openxmlformats.org/officeDocument/2006/relationships" r:id="Ra8e615eff8544844"/>
      <p:italic xmlns:r="http://schemas.openxmlformats.org/officeDocument/2006/relationships" r:id="Re6670586e92f486d"/>
      <p:boldItalic xmlns:r="http://schemas.openxmlformats.org/officeDocument/2006/relationships" r:id="Re9efab457c594377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8efe49e8794789" /><Relationship Type="http://schemas.openxmlformats.org/officeDocument/2006/relationships/slideMaster" Target="/ppt/slideMasters/slideMaster1.xml" Id="Ra8cc7069e4184690" /><Relationship Type="http://schemas.openxmlformats.org/officeDocument/2006/relationships/notesMaster" Target="/ppt/notesMasters/notesMaster1.xml" Id="Rec90c655b566448d" /><Relationship Type="http://schemas.openxmlformats.org/officeDocument/2006/relationships/presProps" Target="/ppt/presProps.xml" Id="Rf98e5fb1c32f463c" /><Relationship Type="http://schemas.openxmlformats.org/officeDocument/2006/relationships/viewProps" Target="/ppt/viewProps.xml" Id="R0d82014d089f4035" /><Relationship Type="http://schemas.openxmlformats.org/officeDocument/2006/relationships/tableStyles" Target="/ppt/tableStyles.xml" Id="Rc77bf91fd44b4991" /><Relationship Type="http://schemas.openxmlformats.org/officeDocument/2006/relationships/font" Target="/ppt/fonts/font.dat" Id="R20c8b21561ae4e78" /><Relationship Type="http://schemas.openxmlformats.org/officeDocument/2006/relationships/font" Target="/ppt/fonts/font2.dat" Id="R88b461bf49ae41b3" /><Relationship Type="http://schemas.openxmlformats.org/officeDocument/2006/relationships/font" Target="/ppt/fonts/font3.dat" Id="Rc43fc64037dc4821" /><Relationship Type="http://schemas.openxmlformats.org/officeDocument/2006/relationships/font" Target="/ppt/fonts/font4.dat" Id="R3f31293af3864696" /><Relationship Type="http://schemas.openxmlformats.org/officeDocument/2006/relationships/font" Target="/ppt/fonts/font5.dat" Id="R5bdae3db32104d49" /><Relationship Type="http://schemas.openxmlformats.org/officeDocument/2006/relationships/font" Target="/ppt/fonts/font6.dat" Id="Rda8dcdff48c54a30" /><Relationship Type="http://schemas.openxmlformats.org/officeDocument/2006/relationships/font" Target="/ppt/fonts/font7.dat" Id="Ra8e615eff8544844" /><Relationship Type="http://schemas.openxmlformats.org/officeDocument/2006/relationships/font" Target="/ppt/fonts/font8.dat" Id="Re6670586e92f486d" /><Relationship Type="http://schemas.openxmlformats.org/officeDocument/2006/relationships/font" Target="/ppt/fonts/font9.dat" Id="Re9efab457c594377" /><Relationship Type="http://schemas.openxmlformats.org/officeDocument/2006/relationships/slide" Target="/ppt/slides/slide1.xml" Id="Rd7f71df5a7714cbc" /><Relationship Type="http://schemas.openxmlformats.org/officeDocument/2006/relationships/slide" Target="/ppt/slides/slide2.xml" Id="R029162cc74364efd" /><Relationship Type="http://schemas.openxmlformats.org/officeDocument/2006/relationships/slide" Target="/ppt/slides/slide3.xml" Id="R120cc016febf4506" /><Relationship Type="http://schemas.openxmlformats.org/officeDocument/2006/relationships/slide" Target="/ppt/slides/slide4.xml" Id="Rf0fd30f2a7394d7a" /><Relationship Type="http://schemas.openxmlformats.org/officeDocument/2006/relationships/slide" Target="/ppt/slides/slide5.xml" Id="Ra5e1c810acd64692" /><Relationship Type="http://schemas.openxmlformats.org/officeDocument/2006/relationships/slide" Target="/ppt/slides/slide6.xml" Id="Rf0cf168157c54f6f" /><Relationship Type="http://schemas.openxmlformats.org/officeDocument/2006/relationships/slide" Target="/ppt/slides/slide7.xml" Id="Rbb7c20978afa487c" /><Relationship Type="http://schemas.openxmlformats.org/officeDocument/2006/relationships/slide" Target="/ppt/slides/slide8.xml" Id="R9f22a86052db40ce" /><Relationship Type="http://schemas.openxmlformats.org/officeDocument/2006/relationships/slide" Target="/ppt/slides/slide9.xml" Id="R43aec614510749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395a9e65294d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a6c93b3e8c4821" /><Relationship Type="http://schemas.openxmlformats.org/officeDocument/2006/relationships/notesMaster" Target="/ppt/notesMasters/notesMaster1.xml" Id="Rc39be61d730747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43b6fadbcd43e0" /><Relationship Type="http://schemas.openxmlformats.org/officeDocument/2006/relationships/notesMaster" Target="/ppt/notesMasters/notesMaster1.xml" Id="R2d6cc80c921441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0de727e3d5401b" /><Relationship Type="http://schemas.openxmlformats.org/officeDocument/2006/relationships/notesMaster" Target="/ppt/notesMasters/notesMaster1.xml" Id="R7b1af7a8c4bd43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071ed1b30843fe" /><Relationship Type="http://schemas.openxmlformats.org/officeDocument/2006/relationships/notesMaster" Target="/ppt/notesMasters/notesMaster1.xml" Id="R83b4da81683243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961067d5384dc2" /><Relationship Type="http://schemas.openxmlformats.org/officeDocument/2006/relationships/notesMaster" Target="/ppt/notesMasters/notesMaster1.xml" Id="R4607b12f6bd649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6bfa838ecf4bf9" /><Relationship Type="http://schemas.openxmlformats.org/officeDocument/2006/relationships/notesMaster" Target="/ppt/notesMasters/notesMaster1.xml" Id="R73233cea61d94c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bc394a3d704bdf" /><Relationship Type="http://schemas.openxmlformats.org/officeDocument/2006/relationships/notesMaster" Target="/ppt/notesMasters/notesMaster1.xml" Id="R2311c60e9a094a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a1af8691924f05" /><Relationship Type="http://schemas.openxmlformats.org/officeDocument/2006/relationships/notesMaster" Target="/ppt/notesMasters/notesMaster1.xml" Id="Rc2157e66fea04c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c47ad595094924" /><Relationship Type="http://schemas.openxmlformats.org/officeDocument/2006/relationships/notesMaster" Target="/ppt/notesMasters/notesMaster1.xml" Id="R69d340e5799644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745a1e98d54c61" /><Relationship Type="http://schemas.openxmlformats.org/officeDocument/2006/relationships/image" Target="/ppt/media/image.png" Id="R92b28162f9aa4beb" /><Relationship Type="http://schemas.openxmlformats.org/officeDocument/2006/relationships/image" Target="/ppt/media/image2.png" Id="Rcc953caa3b284647" /><Relationship Type="http://schemas.openxmlformats.org/officeDocument/2006/relationships/image" Target="/ppt/media/image3.png" Id="R04c627db270349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9d2ec772b41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2355458d747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93e89a7737401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c33389700468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2cde0c08a34c7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91a6cf4aef4a1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0a1e67fae443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49a4f80bf84f0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4a129ca2c74e9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6647c1d744c1e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116ADF8D-0DCC-49D8-994D-9452775372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17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b28162f9aa4beb"/>
          <a:srcRect xmlns:a="http://schemas.openxmlformats.org/drawingml/2006/main" l="3201" t="2894" r="3201" b="31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00" y="4663225"/>
            <a:ext cx="1292627" cy="393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2" name="Google Shape;18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953caa3b2846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741234" cy="2481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" name="Google Shape;19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c627db270349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4651" y="3090900"/>
            <a:ext cx="3319349" cy="2052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851F7FFF-EA97-410E-A2E3-36D84130C4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EA87E88D-6A3B-44B7-A444-6E9CB17C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" y="733085"/>
            <a:ext cx="8516797" cy="51054"/>
          </a:xfrm>
          <a:custGeom xmlns:a="http://schemas.openxmlformats.org/drawingml/2006/main">
            <a:rect l="l" t="t" r="r" b="b"/>
            <a:pathLst>
              <a:path w="9436894" h="152400">
                <a:moveTo>
                  <a:pt x="0" y="0"/>
                </a:moveTo>
                <a:lnTo>
                  <a:pt x="9436894" y="0"/>
                </a:lnTo>
                <a:lnTo>
                  <a:pt x="9402763" y="152400"/>
                </a:lnTo>
                <a:lnTo>
                  <a:pt x="0" y="152038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710" b="0" i="0" u="non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556BE923-4570-4CF2-917F-04F714FF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" y="4973814"/>
            <a:ext cx="4999500" cy="1176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400" tIns="45700" rIns="4340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6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Private and Confidential</a:t>
            </a:r>
          </a:p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B7680E37-B090-4B7E-BEB5-01706C0D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140" y="5124000"/>
            <a:ext cx="9144000" cy="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775" tIns="43375" rIns="86775" bIns="43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45">
              <a:solidFill>
                <a:srgbClr val="000000"/>
              </a:solidFill>
              <a:latin typeface="Palatino Linotype"/>
              <a:ea typeface="Palatino Linotype"/>
              <a:cs typeface="Palatino Linotype"/>
            </a:endParaRPr>
          </a:p>
        </p:txBody>
      </p:sp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D6319BF5-23A5-44B9-9CC4-8BF41805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" y="0"/>
            <a:ext cx="4573200" cy="1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775" tIns="43375" rIns="86775" bIns="43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Google Shape;26;p3">
            <a:extLst xmlns:a="http://schemas.openxmlformats.org/drawingml/2006/main">
              <a:ext uri="{FF2B5EF4-FFF2-40B4-BE49-F238E27FC236}">
                <a16:creationId xmlns:a16="http://schemas.microsoft.com/office/drawing/2014/main" id="{DE3E68D9-545E-47BD-8FA7-4C8DFA80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" y="0"/>
            <a:ext cx="9144000" cy="1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>
              <a:alpha val="6078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775" tIns="43375" rIns="86775" bIns="43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950"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3">
            <a:extLst xmlns:a="http://schemas.openxmlformats.org/drawingml/2006/main">
              <a:ext uri="{FF2B5EF4-FFF2-40B4-BE49-F238E27FC236}">
                <a16:creationId xmlns:a16="http://schemas.microsoft.com/office/drawing/2014/main" id="{1C1B7475-4430-4602-8139-776CAC60F5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425" y="290300"/>
            <a:ext cx="59748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7C9D7F84-6634-437C-9121-DC58A5A4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533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65" b="0" i="0" u="none" cap="non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77C23087-3B6F-4345-A25D-789AF5E3C4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D42797CA-A875-492C-8A48-DCF88BB5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675" y="4867535"/>
            <a:ext cx="1809300" cy="18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Garamond"/>
              <a:buNone/>
            </a:pPr>
            <a:r>
              <a:rPr sz="1065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Private and Confidential</a:t>
            </a:r>
            <a:endParaRPr sz="1465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3CDA7F0-2310-4828-8E00-D19D471F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674" y="1749688"/>
            <a:ext cx="2236469" cy="467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aramond"/>
              <a:buNone/>
            </a:pPr>
            <a:r>
              <a:rPr sz="3200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Thank you!</a:t>
            </a: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FF6BF2A6-6519-48A9-B821-6CCAD3EC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500" y="2517675"/>
            <a:ext cx="1387241" cy="512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aramond"/>
              <a:buNone/>
            </a:pPr>
            <a:r>
              <a:rPr sz="3600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謝謝</a:t>
            </a: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584AC224-35DA-4EDB-87ED-2484F38A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131" y="2517675"/>
            <a:ext cx="2546727" cy="423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aramond"/>
              <a:buNone/>
            </a:pPr>
            <a:r>
              <a:rPr sz="2800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Terima kasih</a:t>
            </a:r>
            <a:endParaRPr sz="1065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38932DED-09F2-46A1-802F-BAC7EB0A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626" y="610075"/>
            <a:ext cx="2414214" cy="423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sz="2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Cảm ơn bạn</a:t>
            </a:r>
            <a:endParaRPr sz="2800" b="0" i="0" u="none" cap="none">
              <a:solidFill>
                <a:srgbClr val="FFFFFF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92C0669F-4558-4DE0-B761-EF3DA02C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478" y="1514525"/>
            <a:ext cx="1492359" cy="423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aramond"/>
              <a:buNone/>
            </a:pPr>
            <a:r>
              <a:rPr sz="2800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Salamat</a:t>
            </a:r>
            <a:endParaRPr sz="1065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BCE6BE7E-41FD-44AC-9314-66E57394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475" y="1443025"/>
            <a:ext cx="2153967" cy="423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sz="28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감사합니다</a:t>
            </a:r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2742692C-83FF-4DEF-A778-581581E7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071" y="729100"/>
            <a:ext cx="2477922" cy="667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Calibri"/>
              <a:buNone/>
            </a:pPr>
            <a:r>
              <a:rPr sz="5065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ขอบคุณ</a:t>
            </a:r>
          </a:p>
        </p:txBody>
      </p:sp>
      <p:cxnSp>
        <p:nvCxnSpPr>
          <p:cNvPr id="73" name="Google Shape;40;p4"/>
          <p:cNvCxnSpPr/>
          <p:nvPr/>
        </p:nvCxnSpPr>
        <p:spPr>
          <a:xfrm xmlns:a="http://schemas.openxmlformats.org/drawingml/2006/main">
            <a:off x="1007269" y="3347117"/>
            <a:ext cx="712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4C9A599C-F1B4-4CAF-A302-838451B3A7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1BB54976-109D-43D1-B5B0-3901EA52FA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80881A6C-AABA-42A8-8577-ABD7E42F8C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0C0C80E5-7140-42CA-9297-42E2838B1F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Google Shape;47;p6">
            <a:extLst xmlns:a="http://schemas.openxmlformats.org/drawingml/2006/main">
              <a:ext uri="{FF2B5EF4-FFF2-40B4-BE49-F238E27FC236}">
                <a16:creationId xmlns:a16="http://schemas.microsoft.com/office/drawing/2014/main" id="{36EBC89D-27C1-4CBA-9CA8-AC9A0CDEF6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Google Shape;48;p6">
            <a:extLst xmlns:a="http://schemas.openxmlformats.org/drawingml/2006/main">
              <a:ext uri="{FF2B5EF4-FFF2-40B4-BE49-F238E27FC236}">
                <a16:creationId xmlns:a16="http://schemas.microsoft.com/office/drawing/2014/main" id="{7A93B429-E653-4A63-A1D0-D327699CFC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B318C088-2DBC-4FF4-B5CD-D7D27F43D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>
            <a:endParaRPr/>
          </a:p>
        </p:txBody>
      </p:sp>
      <p:sp>
        <p:nvSpPr>
          <p:cNvPr id="51" name="Google Shape;51;p7">
            <a:extLst xmlns:a="http://schemas.openxmlformats.org/drawingml/2006/main">
              <a:ext uri="{FF2B5EF4-FFF2-40B4-BE49-F238E27FC236}">
                <a16:creationId xmlns:a16="http://schemas.microsoft.com/office/drawing/2014/main" id="{1ACC1C21-022B-46FC-95CB-6E8D9890CE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7">
            <a:extLst xmlns:a="http://schemas.openxmlformats.org/drawingml/2006/main">
              <a:ext uri="{FF2B5EF4-FFF2-40B4-BE49-F238E27FC236}">
                <a16:creationId xmlns:a16="http://schemas.microsoft.com/office/drawing/2014/main" id="{FE39FB08-095D-4997-AE00-C62E5D3DFF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214F4C30-BE47-40E3-8EC1-58A7B82A32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E74DDF82-7F2F-4844-BBE0-894A494C16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F610F6A3-25EB-4D5D-B394-E5BF8C3E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1D245236-7EAB-4A29-BF9D-A9E1781A41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>
            <a:endParaRPr/>
          </a:p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26F8CE94-FDDA-4ED0-BC43-E4EFE32F0C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B01AB1CD-9917-4D26-B8C3-8E703AEBC5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FA148AEF-1580-4BEF-AF77-C1D3737903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10">
            <a:extLst xmlns:a="http://schemas.openxmlformats.org/drawingml/2006/main">
              <a:ext uri="{FF2B5EF4-FFF2-40B4-BE49-F238E27FC236}">
                <a16:creationId xmlns:a16="http://schemas.microsoft.com/office/drawing/2014/main" id="{231C7F30-F83C-4B18-8E87-8733D1A0AD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89F4EE0D-9B9D-4452-8A22-812C9A7A1E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1">
            <a:extLst xmlns:a="http://schemas.openxmlformats.org/drawingml/2006/main">
              <a:ext uri="{FF2B5EF4-FFF2-40B4-BE49-F238E27FC236}">
                <a16:creationId xmlns:a16="http://schemas.microsoft.com/office/drawing/2014/main" id="{E353DC2C-697A-4CAC-8D1F-5604C20FBA2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67" name="Google Shape;67;p11">
            <a:extLst xmlns:a="http://schemas.openxmlformats.org/drawingml/2006/main">
              <a:ext uri="{FF2B5EF4-FFF2-40B4-BE49-F238E27FC236}">
                <a16:creationId xmlns:a16="http://schemas.microsoft.com/office/drawing/2014/main" id="{D39EAD8E-4C56-40E1-9C33-455758DE9B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1">
            <a:extLst xmlns:a="http://schemas.openxmlformats.org/drawingml/2006/main">
              <a:ext uri="{FF2B5EF4-FFF2-40B4-BE49-F238E27FC236}">
                <a16:creationId xmlns:a16="http://schemas.microsoft.com/office/drawing/2014/main" id="{DA7CE37F-F046-4637-BAE4-9423BA73D9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12">
            <a:extLst xmlns:a="http://schemas.openxmlformats.org/drawingml/2006/main">
              <a:ext uri="{FF2B5EF4-FFF2-40B4-BE49-F238E27FC236}">
                <a16:creationId xmlns:a16="http://schemas.microsoft.com/office/drawing/2014/main" id="{188DA52E-5F44-456F-A500-9A799F7AA5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c58885c50c4f04" /><Relationship Type="http://schemas.openxmlformats.org/officeDocument/2006/relationships/slideLayout" Target="/ppt/slideLayouts/slideLayout1.xml" Id="R2b50da2462b14b8f" /><Relationship Type="http://schemas.openxmlformats.org/officeDocument/2006/relationships/slideLayout" Target="/ppt/slideLayouts/slideLayout2.xml" Id="R91cb170dd6c84c40" /><Relationship Type="http://schemas.openxmlformats.org/officeDocument/2006/relationships/slideLayout" Target="/ppt/slideLayouts/slideLayout3.xml" Id="R36b23949a3264039" /><Relationship Type="http://schemas.openxmlformats.org/officeDocument/2006/relationships/slideLayout" Target="/ppt/slideLayouts/slideLayout4.xml" Id="Rca02c5c3906740d4" /><Relationship Type="http://schemas.openxmlformats.org/officeDocument/2006/relationships/slideLayout" Target="/ppt/slideLayouts/slideLayout5.xml" Id="Rb5d8dca6d8164b38" /><Relationship Type="http://schemas.openxmlformats.org/officeDocument/2006/relationships/slideLayout" Target="/ppt/slideLayouts/slideLayout6.xml" Id="R8a0b6d18782a4c93" /><Relationship Type="http://schemas.openxmlformats.org/officeDocument/2006/relationships/slideLayout" Target="/ppt/slideLayouts/slideLayout7.xml" Id="R44611cb831a64a38" /><Relationship Type="http://schemas.openxmlformats.org/officeDocument/2006/relationships/slideLayout" Target="/ppt/slideLayouts/slideLayout8.xml" Id="Rb0e16168288f4871" /><Relationship Type="http://schemas.openxmlformats.org/officeDocument/2006/relationships/slideLayout" Target="/ppt/slideLayouts/slideLayout9.xml" Id="R31603f9b9b334f11" /><Relationship Type="http://schemas.openxmlformats.org/officeDocument/2006/relationships/slideLayout" Target="/ppt/slideLayouts/slideLayout10.xml" Id="Rf95d4f4277fd4213" /><Relationship Type="http://schemas.openxmlformats.org/officeDocument/2006/relationships/slideLayout" Target="/ppt/slideLayouts/slideLayout11.xml" Id="R127de08ac936401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01AC826D-67B7-4664-8527-09D34DBD64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88887EEE-6568-4034-B608-C8033A1A3B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TC"/>
              <a:buChar char="●"/>
              <a:defRPr sz="1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○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■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●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○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■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●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○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■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A5D13A91-5580-4BF7-B7A7-20AF1AC770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91ABDEE8-EFF5-4ABE-899D-BA6C34AA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0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5292C16C-613E-4C65-B5D1-2E1D0AC9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185825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66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0DB16544-7B69-4721-BDEA-8A52264C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371650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C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2" name="Google Shape;12;p1">
            <a:extLst xmlns:a="http://schemas.openxmlformats.org/drawingml/2006/main">
              <a:ext uri="{FF2B5EF4-FFF2-40B4-BE49-F238E27FC236}">
                <a16:creationId xmlns:a16="http://schemas.microsoft.com/office/drawing/2014/main" id="{5C4F33AF-80CD-42C3-B2DD-FEDFA82E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557475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434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3" name="Google Shape;13;p1">
            <a:extLst xmlns:a="http://schemas.openxmlformats.org/drawingml/2006/main">
              <a:ext uri="{FF2B5EF4-FFF2-40B4-BE49-F238E27FC236}">
                <a16:creationId xmlns:a16="http://schemas.microsoft.com/office/drawing/2014/main" id="{EBA2C8A5-F151-4081-A63F-5CE6EACB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743300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99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4" name="Google Shape;14;p1">
            <a:extLst xmlns:a="http://schemas.openxmlformats.org/drawingml/2006/main">
              <a:ext uri="{FF2B5EF4-FFF2-40B4-BE49-F238E27FC236}">
                <a16:creationId xmlns:a16="http://schemas.microsoft.com/office/drawing/2014/main" id="{0D588936-49E4-4747-A34E-42B99A3D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929125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50da2462b14b8f"/>
    <p:sldLayoutId xmlns:r="http://schemas.openxmlformats.org/officeDocument/2006/relationships" id="2147483650" r:id="R91cb170dd6c84c40"/>
    <p:sldLayoutId xmlns:r="http://schemas.openxmlformats.org/officeDocument/2006/relationships" id="2147483651" r:id="R36b23949a3264039"/>
    <p:sldLayoutId xmlns:r="http://schemas.openxmlformats.org/officeDocument/2006/relationships" id="2147483652" r:id="Rca02c5c3906740d4"/>
    <p:sldLayoutId xmlns:r="http://schemas.openxmlformats.org/officeDocument/2006/relationships" id="2147483653" r:id="Rb5d8dca6d8164b38"/>
    <p:sldLayoutId xmlns:r="http://schemas.openxmlformats.org/officeDocument/2006/relationships" id="2147483654" r:id="R8a0b6d18782a4c93"/>
    <p:sldLayoutId xmlns:r="http://schemas.openxmlformats.org/officeDocument/2006/relationships" id="2147483655" r:id="R44611cb831a64a38"/>
    <p:sldLayoutId xmlns:r="http://schemas.openxmlformats.org/officeDocument/2006/relationships" id="2147483656" r:id="Rb0e16168288f4871"/>
    <p:sldLayoutId xmlns:r="http://schemas.openxmlformats.org/officeDocument/2006/relationships" id="2147483657" r:id="R31603f9b9b334f11"/>
    <p:sldLayoutId xmlns:r="http://schemas.openxmlformats.org/officeDocument/2006/relationships" id="2147483658" r:id="Rf95d4f4277fd4213"/>
    <p:sldLayoutId xmlns:r="http://schemas.openxmlformats.org/officeDocument/2006/relationships" id="2147483659" r:id="R127de08ac936401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aebd38a0e490f" /><Relationship Type="http://schemas.openxmlformats.org/officeDocument/2006/relationships/image" Target="/ppt/media/image4.png" Id="R8603564a0c8f49b6" /><Relationship Type="http://schemas.openxmlformats.org/officeDocument/2006/relationships/notesSlide" Target="/ppt/notesSlides/notesSlide1.xml" Id="R49a96a7619204a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4b3c383ca6a4ca5" /><Relationship Type="http://schemas.openxmlformats.org/officeDocument/2006/relationships/notesSlide" Target="/ppt/notesSlides/notesSlide2.xml" Id="Rd240739fdb9b47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9cf5524a3c24421" /><Relationship Type="http://schemas.openxmlformats.org/officeDocument/2006/relationships/notesSlide" Target="/ppt/notesSlides/notesSlide3.xml" Id="Rc16af2f8a31c4e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5302fd830dd4a22" /><Relationship Type="http://schemas.openxmlformats.org/officeDocument/2006/relationships/notesSlide" Target="/ppt/notesSlides/notesSlide4.xml" Id="R7b2b50e21a1e4e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2b056092e4340fd" /><Relationship Type="http://schemas.openxmlformats.org/officeDocument/2006/relationships/notesSlide" Target="/ppt/notesSlides/notesSlide5.xml" Id="R943f8526249f4f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f5fabccb1c54285" /><Relationship Type="http://schemas.openxmlformats.org/officeDocument/2006/relationships/notesSlide" Target="/ppt/notesSlides/notesSlide6.xml" Id="Rbe308a8ce6a848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55d4bb920654676" /><Relationship Type="http://schemas.openxmlformats.org/officeDocument/2006/relationships/notesSlide" Target="/ppt/notesSlides/notesSlide7.xml" Id="R142adc63387149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5062e851e574a2e" /><Relationship Type="http://schemas.openxmlformats.org/officeDocument/2006/relationships/notesSlide" Target="/ppt/notesSlides/notesSlide8.xml" Id="R2c6cfa70aa1e48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1857bd39bd04b5d" /><Relationship Type="http://schemas.openxmlformats.org/officeDocument/2006/relationships/notesSlide" Target="/ppt/notesSlides/notesSlide9.xml" Id="Re611347d27e24689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8603564a0c8f49b6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3">
            <a:extLst xmlns:a="http://schemas.openxmlformats.org/drawingml/2006/main">
              <a:ext uri="{FF2B5EF4-FFF2-40B4-BE49-F238E27FC236}">
                <a16:creationId xmlns:a16="http://schemas.microsoft.com/office/drawing/2014/main" id="{240ED7AC-9CB8-48C7-A2E4-D0DB1B7D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00" y="1891425"/>
            <a:ext cx="7289400" cy="12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SourceHanSerifSC EvaJian"/>
                <a:ea typeface="SourceHanSerifSC EvaJian"/>
                <a:cs typeface="SourceHanSerifSC EvaJian"/>
              </a:defRPr>
            </a:pPr>
            <a:r>
              <a:rPr sz="4500" b="1">
                <a:solidFill>
                  <a:srgbClr val="FFD35C"/>
                </a:solidFill>
                <a:latin typeface="SourceHanSerifSC EvaJian"/>
                <a:ea typeface="SourceHanSerifSC EvaJian"/>
                <a:cs typeface="SourceHanSerifSC EvaJian"/>
              </a:rPr>
              <a:t>咕 咕 啾 啾</a:t>
            </a:r>
            <a:endParaRPr sz="4500" b="1">
              <a:solidFill>
                <a:srgbClr val="FFD35C"/>
              </a:solidFill>
            </a:endParaRPr>
          </a:p>
        </p:txBody>
      </p:sp>
      <p:sp>
        <p:nvSpPr>
          <p:cNvPr id="76" name="Google Shape;76;p13">
            <a:extLst xmlns:a="http://schemas.openxmlformats.org/drawingml/2006/main">
              <a:ext uri="{FF2B5EF4-FFF2-40B4-BE49-F238E27FC236}">
                <a16:creationId xmlns:a16="http://schemas.microsoft.com/office/drawing/2014/main" id="{F8B1A152-56DA-421E-9A8F-F03ACDED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825" y="3027750"/>
            <a:ext cx="6100500" cy="1795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天王星像素 11Px"/>
                <a:ea typeface="天王星像素 11Px"/>
                <a:cs typeface="天王星像素 11Px"/>
              </a:defRPr>
            </a:pPr>
            <a:r>
              <a:rPr sz="2300" b="1">
                <a:solidFill>
                  <a:srgbClr val="FFD35C"/>
                </a:solidFill>
                <a:latin typeface="天王星像素 11Px"/>
                <a:ea typeface="天王星像素 11Px"/>
                <a:cs typeface="天王星像素 11Px"/>
              </a:rPr>
              <a:t>有福同享有难退队</a:t>
            </a:r>
            <a:endParaRPr sz="2300" b="1">
              <a:solidFill>
                <a:srgbClr val="FFD35C"/>
              </a:solidFill>
            </a:endParaRPr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solidFill>
                <a:srgbClr val="FFD35C"/>
              </a:solidFill>
            </a:endParaRPr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天王星像素 11Px"/>
                <a:ea typeface="天王星像素 11Px"/>
                <a:cs typeface="天王星像素 11Px"/>
              </a:defRPr>
            </a:pPr>
            <a:r>
              <a:rPr sz="2300" b="1">
                <a:solidFill>
                  <a:srgbClr val="FFD35C"/>
                </a:solidFill>
                <a:latin typeface="天王星像素 11Px"/>
                <a:ea typeface="天王星像素 11Px"/>
                <a:cs typeface="天王星像素 11Px"/>
              </a:rPr>
              <a:t>(不是 怎么真退队啊)</a:t>
            </a:r>
            <a:endParaRPr sz="2300" b="1">
              <a:solidFill>
                <a:srgbClr val="FFD35C"/>
              </a:solidFill>
            </a:endParaRPr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天王星像素 11Px"/>
                <a:ea typeface="天王星像素 11Px"/>
                <a:cs typeface="天王星像素 11Px"/>
              </a:defRPr>
            </a:pPr>
            <a:r>
              <a:rPr sz="2300" b="1">
                <a:solidFill>
                  <a:srgbClr val="C80000"/>
                </a:solidFill>
                <a:latin typeface="天王星像素 11Px"/>
                <a:ea typeface="天王星像素 11Px"/>
                <a:cs typeface="天王星像素 11Px"/>
              </a:rPr>
              <a:t>      </a:t>
            </a:r>
            <a:endParaRPr sz="2300" b="1">
              <a:solidFill>
                <a:srgbClr val="C8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9040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15">
            <a:extLst xmlns:a="http://schemas.openxmlformats.org/drawingml/2006/main">
              <a:ext uri="{FF2B5EF4-FFF2-40B4-BE49-F238E27FC236}">
                <a16:creationId xmlns:a16="http://schemas.microsoft.com/office/drawing/2014/main" id="{1F910227-F401-4B33-8741-D76F582F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91" name="Google Shape;91;p15">
            <a:extLst xmlns:a="http://schemas.openxmlformats.org/drawingml/2006/main">
              <a:ext uri="{FF2B5EF4-FFF2-40B4-BE49-F238E27FC236}">
                <a16:creationId xmlns:a16="http://schemas.microsoft.com/office/drawing/2014/main" id="{76170521-32D1-4E02-9B8E-59DD0D29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03 / 08</a:t>
            </a:r>
          </a:p>
        </p:txBody>
      </p:sp>
      <p:sp>
        <p:nvSpPr>
          <p:cNvPr id="92" name="Google Shape;92;p15">
            <a:extLst xmlns:a="http://schemas.openxmlformats.org/drawingml/2006/main">
              <a:ext uri="{FF2B5EF4-FFF2-40B4-BE49-F238E27FC236}">
                <a16:creationId xmlns:a16="http://schemas.microsoft.com/office/drawing/2014/main" id="{2C399D08-A6CD-4436-8553-3FEA79A1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作品简介</a:t>
            </a:r>
            <a:endParaRPr sz="2600" b="1">
              <a:solidFill>
                <a:srgbClr val="C0504D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93" name="Google Shape;93;p15">
            <a:extLst xmlns:a="http://schemas.openxmlformats.org/drawingml/2006/main">
              <a:ext uri="{FF2B5EF4-FFF2-40B4-BE49-F238E27FC236}">
                <a16:creationId xmlns:a16="http://schemas.microsoft.com/office/drawing/2014/main" id="{D0F2662E-D65C-4005-84DF-63980F57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86" y="1200150"/>
            <a:ext cx="789994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7"/>
              </a:spcAft>
              <a:buNone/>
            </a:pPr>
            <a:r>
              <a:rPr sz="1400">
                <a:solidFill>
                  <a:srgbClr val="777777"/>
                </a:solidFill>
                <a:latin typeface="Noto Sans TC"/>
                <a:ea typeface="Noto Sans TC"/>
                <a:cs typeface="Noto Sans TC"/>
              </a:rPr>
              <a:t>有福同享有难退队｜《咕咕啾啾》</a:t>
            </a:r>
          </a:p>
          <a:p xmlns:a="http://schemas.openxmlformats.org/drawingml/2006/main">
            <a:pPr algn="l">
              <a:spcAft>
                <a:spcPts val="3"/>
              </a:spcAft>
              <a:buNone/>
            </a:pPr>
            <a:r>
              <a:rPr sz="23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01  鸟类题材</a:t>
            </a:r>
          </a:p>
          <a:p xmlns:a="http://schemas.openxmlformats.org/drawingml/2006/main">
            <a:pPr algn="l">
              <a:spcAft>
                <a:spcPts val="18"/>
              </a:spcAft>
              <a:buNone/>
            </a:pPr>
            <a:r>
              <a:rPr sz="17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借势中文互联网的观鸟热潮，吸引用户关注</a:t>
            </a:r>
          </a:p>
          <a:p xmlns:a="http://schemas.openxmlformats.org/drawingml/2006/main">
            <a:pPr algn="l">
              <a:spcAft>
                <a:spcPts val="3"/>
              </a:spcAft>
              <a:buNone/>
            </a:pPr>
            <a:r>
              <a:rPr sz="23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02  技能扫雷 + 肉鸽</a:t>
            </a:r>
          </a:p>
          <a:p xmlns:a="http://schemas.openxmlformats.org/drawingml/2006/main">
            <a:pPr algn="l">
              <a:spcAft>
                <a:spcPts val="23"/>
              </a:spcAft>
              <a:buNone/>
            </a:pPr>
            <a:r>
              <a:rPr sz="17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用技能与局内成长，改造传统扫雷体验</a:t>
            </a:r>
          </a:p>
          <a:p xmlns:a="http://schemas.openxmlformats.org/drawingml/2006/main">
            <a:pPr algn="l">
              <a:spcAft>
                <a:spcPts val="4"/>
              </a:spcAft>
              <a:buNone/>
            </a:pPr>
            <a:r>
              <a:rPr sz="1400" b="1">
                <a:solidFill>
                  <a:srgbClr val="777777"/>
                </a:solidFill>
                <a:latin typeface="Noto Sans TC"/>
                <a:ea typeface="Noto Sans TC"/>
                <a:cs typeface="Noto Sans TC"/>
              </a:rPr>
              <a:t>核心体验</a:t>
            </a:r>
          </a:p>
          <a:p xmlns:a="http://schemas.openxmlformats.org/drawingml/2006/main">
            <a:pPr algn="l">
              <a:buNone/>
            </a:pPr>
            <a:r>
              <a:rPr sz="27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让不会扫雷的人敢玩，让扫雷高手玩爽。</a:t>
            </a:r>
          </a:p>
        </p:txBody>
      </p:sp>
      <p:sp>
        <p:nvSpPr>
          <p:cNvPr id="94" name="Google Shape;94;p15">
            <a:extLst xmlns:a="http://schemas.openxmlformats.org/drawingml/2006/main">
              <a:ext uri="{FF2B5EF4-FFF2-40B4-BE49-F238E27FC236}">
                <a16:creationId xmlns:a16="http://schemas.microsoft.com/office/drawing/2014/main" id="{C3F1E8EF-5EAF-4900-B06D-9E43410C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8286790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16">
            <a:extLst xmlns:a="http://schemas.openxmlformats.org/drawingml/2006/main">
              <a:ext uri="{FF2B5EF4-FFF2-40B4-BE49-F238E27FC236}">
                <a16:creationId xmlns:a16="http://schemas.microsoft.com/office/drawing/2014/main" id="{EF3A9242-8103-4A6A-B4B5-088DC96F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00" name="Google Shape;100;p16">
            <a:extLst xmlns:a="http://schemas.openxmlformats.org/drawingml/2006/main">
              <a:ext uri="{FF2B5EF4-FFF2-40B4-BE49-F238E27FC236}">
                <a16:creationId xmlns:a16="http://schemas.microsoft.com/office/drawing/2014/main" id="{13AD93BA-6527-4F99-B294-8CA68AA7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04 / 08</a:t>
            </a:r>
          </a:p>
        </p:txBody>
      </p:sp>
      <p:sp>
        <p:nvSpPr>
          <p:cNvPr id="101" name="Google Shape;101;p16">
            <a:extLst xmlns:a="http://schemas.openxmlformats.org/drawingml/2006/main">
              <a:ext uri="{FF2B5EF4-FFF2-40B4-BE49-F238E27FC236}">
                <a16:creationId xmlns:a16="http://schemas.microsoft.com/office/drawing/2014/main" id="{513543D6-3C0D-4728-9B2B-A52DD82A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如何理解「99」</a:t>
            </a:r>
            <a:endParaRPr sz="2600" b="1">
              <a:solidFill>
                <a:srgbClr val="C0504D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102" name="Google Shape;102;p16">
            <a:extLst xmlns:a="http://schemas.openxmlformats.org/drawingml/2006/main">
              <a:ext uri="{FF2B5EF4-FFF2-40B4-BE49-F238E27FC236}">
                <a16:creationId xmlns:a16="http://schemas.microsoft.com/office/drawing/2014/main" id="{1B1FD6D6-D065-430F-A276-EC049AD3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1240100"/>
            <a:ext cx="78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我们对「99」的理解是：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是数字、是jiujiu、是救救、是啾啾……还是？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04040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这个理解最终如何变成游戏：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9——作为数字可以出现在很多游戏里：99关、99层和99个boss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但是，有一个1-8都有但绝无9有的游戏！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那就是————扫雷！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既然如此，我们的就给它加上“9”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04040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9-即本游戏中所有的技能卡牌</a:t>
            </a:r>
          </a:p>
        </p:txBody>
      </p:sp>
      <p:sp>
        <p:nvSpPr>
          <p:cNvPr id="103" name="Google Shape;103;p16">
            <a:extLst xmlns:a="http://schemas.openxmlformats.org/drawingml/2006/main">
              <a:ext uri="{FF2B5EF4-FFF2-40B4-BE49-F238E27FC236}">
                <a16:creationId xmlns:a16="http://schemas.microsoft.com/office/drawing/2014/main" id="{E6164029-1857-4BE4-B817-05EA5572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11447704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Google Shape;108;p17">
            <a:extLst xmlns:a="http://schemas.openxmlformats.org/drawingml/2006/main">
              <a:ext uri="{FF2B5EF4-FFF2-40B4-BE49-F238E27FC236}">
                <a16:creationId xmlns:a16="http://schemas.microsoft.com/office/drawing/2014/main" id="{4B997E19-3F85-43B1-BC0D-8AD75D40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09" name="Google Shape;109;p17">
            <a:extLst xmlns:a="http://schemas.openxmlformats.org/drawingml/2006/main">
              <a:ext uri="{FF2B5EF4-FFF2-40B4-BE49-F238E27FC236}">
                <a16:creationId xmlns:a16="http://schemas.microsoft.com/office/drawing/2014/main" id="{F877FDD6-1BCC-45F5-BD9E-44EAB854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05 / 08</a:t>
            </a:r>
          </a:p>
        </p:txBody>
      </p:sp>
      <p:sp>
        <p:nvSpPr>
          <p:cNvPr id="110" name="Google Shape;110;p17">
            <a:extLst xmlns:a="http://schemas.openxmlformats.org/drawingml/2006/main">
              <a:ext uri="{FF2B5EF4-FFF2-40B4-BE49-F238E27FC236}">
                <a16:creationId xmlns:a16="http://schemas.microsoft.com/office/drawing/2014/main" id="{03D3E636-E778-48C5-9749-8E78CFA1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创意从哪里来</a:t>
            </a:r>
          </a:p>
        </p:txBody>
      </p:sp>
      <p:sp>
        <p:nvSpPr>
          <p:cNvPr id="111" name="Google Shape;111;p17">
            <a:extLst xmlns:a="http://schemas.openxmlformats.org/drawingml/2006/main">
              <a:ext uri="{FF2B5EF4-FFF2-40B4-BE49-F238E27FC236}">
                <a16:creationId xmlns:a16="http://schemas.microsoft.com/office/drawing/2014/main" id="{4C935A86-1747-4F9C-B711-A07806D3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86" y="1381125"/>
            <a:ext cx="3581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</a:pPr>
            <a:r>
              <a:rPr sz="21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01  《观鸟笔记》</a:t>
            </a:r>
          </a:p>
          <a:p xmlns:a="http://schemas.openxmlformats.org/drawingml/2006/main">
            <a:pPr algn="l">
              <a:spcAft>
                <a:spcPts val="8"/>
              </a:spcAft>
            </a:pPr>
            <a:r>
              <a:rPr sz="1500" b="1">
                <a:solidFill>
                  <a:srgbClr val="777777"/>
                </a:solidFill>
                <a:latin typeface="Noto Sans TC"/>
                <a:ea typeface="Noto Sans TC"/>
                <a:cs typeface="Noto Sans TC"/>
              </a:rPr>
              <a:t>鸟类题材</a:t>
            </a:r>
          </a:p>
          <a:p xmlns:a="http://schemas.openxmlformats.org/drawingml/2006/main">
            <a:pPr algn="l">
              <a:spcAft>
                <a:spcPts val="10"/>
              </a:spcAft>
            </a:pPr>
            <a:r>
              <a:rPr sz="16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参考其真实鸟类主题，但改变目标人群与表达方式。</a:t>
            </a:r>
          </a:p>
          <a:p xmlns:a="http://schemas.openxmlformats.org/drawingml/2006/main">
            <a:pPr algn="l">
              <a:spcAft>
                <a:spcPts val="6"/>
              </a:spcAft>
            </a:pPr>
            <a:r>
              <a:rPr sz="1400">
                <a:solidFill>
                  <a:srgbClr val="555555"/>
                </a:solidFill>
                <a:latin typeface="Noto Sans TC"/>
                <a:ea typeface="Noto Sans TC"/>
                <a:cs typeface="Noto Sans TC"/>
              </a:rPr>
              <a:t>《观鸟笔记》：还原鸟类生态与行为，面向深度观鸟爱好者</a:t>
            </a:r>
          </a:p>
          <a:p xmlns:a="http://schemas.openxmlformats.org/drawingml/2006/main">
            <a:pPr algn="l">
              <a:spcAft>
                <a:spcPts val="16"/>
              </a:spcAft>
            </a:pPr>
            <a:r>
              <a:rPr sz="1400">
                <a:solidFill>
                  <a:srgbClr val="555555"/>
                </a:solidFill>
                <a:latin typeface="Noto Sans TC"/>
                <a:ea typeface="Noto Sans TC"/>
                <a:cs typeface="Noto Sans TC"/>
              </a:rPr>
              <a:t>《咕咕啾啾》：捕捉大众熟悉的鸟类梗，表达更轻松诙谐</a:t>
            </a:r>
          </a:p>
          <a:p xmlns:a="http://schemas.openxmlformats.org/drawingml/2006/main">
            <a:pPr algn="l"/>
            <a:r>
              <a:rPr sz="1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从“专业观鸟”转向“人人都能懂的鸟类趣味”。</a:t>
            </a:r>
          </a:p>
        </p:txBody>
      </p:sp>
      <p:sp>
        <p:nvSpPr>
          <p:cNvPr id="112" name="Google Shape;112;p17">
            <a:extLst xmlns:a="http://schemas.openxmlformats.org/drawingml/2006/main">
              <a:ext uri="{FF2B5EF4-FFF2-40B4-BE49-F238E27FC236}">
                <a16:creationId xmlns:a16="http://schemas.microsoft.com/office/drawing/2014/main" id="{A3EBE90B-4635-4709-B49A-2C3514F0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8FDF373-2D11-4A21-B4A7-C8FFB945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28750"/>
            <a:ext cx="190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F8D0341-AE4B-4443-A633-5E78D235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81125"/>
            <a:ext cx="36671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</a:pPr>
            <a:r>
              <a:rPr sz="19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02  《战术扫雷：肉鸽 Plus》</a:t>
            </a:r>
          </a:p>
          <a:p xmlns:a="http://schemas.openxmlformats.org/drawingml/2006/main">
            <a:pPr algn="l">
              <a:spcAft>
                <a:spcPts val="8"/>
              </a:spcAft>
            </a:pPr>
            <a:r>
              <a:rPr sz="1500" b="1">
                <a:solidFill>
                  <a:srgbClr val="777777"/>
                </a:solidFill>
                <a:latin typeface="Noto Sans TC"/>
                <a:ea typeface="Noto Sans TC"/>
                <a:cs typeface="Noto Sans TC"/>
              </a:rPr>
              <a:t>扫雷轻量化</a:t>
            </a:r>
          </a:p>
          <a:p xmlns:a="http://schemas.openxmlformats.org/drawingml/2006/main">
            <a:pPr algn="l">
              <a:spcAft>
                <a:spcPts val="10"/>
              </a:spcAft>
            </a:pPr>
            <a:r>
              <a:rPr sz="16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参考其降低推理门槛、强化操作反馈的设计思路。</a:t>
            </a:r>
          </a:p>
          <a:p xmlns:a="http://schemas.openxmlformats.org/drawingml/2006/main">
            <a:pPr algn="l">
              <a:spcAft>
                <a:spcPts val="5"/>
              </a:spcAft>
            </a:pPr>
            <a:r>
              <a:rPr sz="1400">
                <a:solidFill>
                  <a:srgbClr val="555555"/>
                </a:solidFill>
                <a:latin typeface="Noto Sans TC"/>
                <a:ea typeface="Noto Sans TC"/>
                <a:cs typeface="Noto Sans TC"/>
              </a:rPr>
              <a:t>强化推理功能，让玩家更容易获得有效信息</a:t>
            </a:r>
          </a:p>
          <a:p xmlns:a="http://schemas.openxmlformats.org/drawingml/2006/main">
            <a:pPr algn="l">
              <a:spcAft>
                <a:spcPts val="5"/>
              </a:spcAft>
            </a:pPr>
            <a:r>
              <a:rPr sz="1400">
                <a:solidFill>
                  <a:srgbClr val="555555"/>
                </a:solidFill>
                <a:latin typeface="Noto Sans TC"/>
                <a:ea typeface="Noto Sans TC"/>
                <a:cs typeface="Noto Sans TC"/>
              </a:rPr>
              <a:t>强化翻格过程中的视听与操作反馈</a:t>
            </a:r>
          </a:p>
          <a:p xmlns:a="http://schemas.openxmlformats.org/drawingml/2006/main">
            <a:pPr algn="l">
              <a:spcAft>
                <a:spcPts val="14"/>
              </a:spcAft>
            </a:pPr>
            <a:r>
              <a:rPr sz="1400">
                <a:solidFill>
                  <a:srgbClr val="555555"/>
                </a:solidFill>
                <a:latin typeface="Noto Sans TC"/>
                <a:ea typeface="Noto Sans TC"/>
                <a:cs typeface="Noto Sans TC"/>
              </a:rPr>
              <a:t>不引入复杂的道具规则；所有道具只服务于翻开格子、标记地雷</a:t>
            </a:r>
          </a:p>
          <a:p xmlns:a="http://schemas.openxmlformats.org/drawingml/2006/main">
            <a:pPr algn="l"/>
            <a:r>
              <a:rPr sz="1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不改变扫雷的核心规则，只让推理更轻松、操作更爽快。</a:t>
            </a:r>
          </a:p>
        </p:txBody>
      </p:sp>
    </p:spTree>
    <p:extLst>
      <p:ext uri="{BB962C8B-B14F-4D97-AF65-F5344CB8AC3E}">
        <p14:creationId xmlns:p14="http://schemas.microsoft.com/office/powerpoint/2010/main" val="6921589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Google Shape;117;p18">
            <a:extLst xmlns:a="http://schemas.openxmlformats.org/drawingml/2006/main">
              <a:ext uri="{FF2B5EF4-FFF2-40B4-BE49-F238E27FC236}">
                <a16:creationId xmlns:a16="http://schemas.microsoft.com/office/drawing/2014/main" id="{44D74D65-94B3-4AC5-A548-27441B0F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18" name="Google Shape;118;p18">
            <a:extLst xmlns:a="http://schemas.openxmlformats.org/drawingml/2006/main">
              <a:ext uri="{FF2B5EF4-FFF2-40B4-BE49-F238E27FC236}">
                <a16:creationId xmlns:a16="http://schemas.microsoft.com/office/drawing/2014/main" id="{41EE335C-7F6F-48BB-86B2-F442AA71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05 / 08</a:t>
            </a:r>
          </a:p>
        </p:txBody>
      </p:sp>
      <p:sp>
        <p:nvSpPr>
          <p:cNvPr id="119" name="Google Shape;119;p18">
            <a:extLst xmlns:a="http://schemas.openxmlformats.org/drawingml/2006/main">
              <a:ext uri="{FF2B5EF4-FFF2-40B4-BE49-F238E27FC236}">
                <a16:creationId xmlns:a16="http://schemas.microsoft.com/office/drawing/2014/main" id="{6AB6F73D-2E78-45B8-9F50-C42BC96A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我们做了什么不一样</a:t>
            </a:r>
            <a:r>
              <a:rPr sz="2600" b="1">
                <a:solidFill>
                  <a:srgbClr val="C0504D"/>
                </a:solidFill>
                <a:latin typeface="Noto Sans TC"/>
                <a:ea typeface="Noto Sans TC"/>
                <a:cs typeface="Noto Sans TC"/>
              </a:rPr>
              <a:t>——游戏机制</a:t>
            </a:r>
          </a:p>
        </p:txBody>
      </p:sp>
      <p:sp>
        <p:nvSpPr>
          <p:cNvPr id="120" name="Google Shape;120;p18">
            <a:extLst xmlns:a="http://schemas.openxmlformats.org/drawingml/2006/main">
              <a:ext uri="{FF2B5EF4-FFF2-40B4-BE49-F238E27FC236}">
                <a16:creationId xmlns:a16="http://schemas.microsoft.com/office/drawing/2014/main" id="{AC8F247B-6862-476E-9A73-68BD6BAF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1450000"/>
            <a:ext cx="78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创新点 1｜游戏机制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它是什么？与已有作品 / 常见做法相比，哪里不同？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04040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创新点 2｜________（如有）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它是什么？为什么这样设计？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04040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创新点 3｜________（如有）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它给实际游戏体验带来了什么变化？</a:t>
            </a:r>
          </a:p>
        </p:txBody>
      </p:sp>
      <p:sp>
        <p:nvSpPr>
          <p:cNvPr id="121" name="Google Shape;121;p18">
            <a:extLst xmlns:a="http://schemas.openxmlformats.org/drawingml/2006/main">
              <a:ext uri="{FF2B5EF4-FFF2-40B4-BE49-F238E27FC236}">
                <a16:creationId xmlns:a16="http://schemas.microsoft.com/office/drawing/2014/main" id="{9B41C3CA-8F75-4B60-976D-DE2059ED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1975840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p19">
            <a:extLst xmlns:a="http://schemas.openxmlformats.org/drawingml/2006/main">
              <a:ext uri="{FF2B5EF4-FFF2-40B4-BE49-F238E27FC236}">
                <a16:creationId xmlns:a16="http://schemas.microsoft.com/office/drawing/2014/main" id="{89B89605-2F0D-4E6A-BE4A-956F29C9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27" name="Google Shape;127;p19">
            <a:extLst xmlns:a="http://schemas.openxmlformats.org/drawingml/2006/main">
              <a:ext uri="{FF2B5EF4-FFF2-40B4-BE49-F238E27FC236}">
                <a16:creationId xmlns:a16="http://schemas.microsoft.com/office/drawing/2014/main" id="{785B48A9-6CD6-480E-8CDB-282109DA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05 / 08</a:t>
            </a:r>
          </a:p>
        </p:txBody>
      </p:sp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E38A0738-483E-413B-9C73-9A8A406F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我们做了什么不一样</a:t>
            </a:r>
            <a:r>
              <a:rPr sz="2600" b="1">
                <a:solidFill>
                  <a:srgbClr val="C0504D"/>
                </a:solidFill>
                <a:latin typeface="Noto Sans TC"/>
                <a:ea typeface="Noto Sans TC"/>
                <a:cs typeface="Noto Sans TC"/>
              </a:rPr>
              <a:t>——技术创新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50A32174-FC6D-4484-8D6F-A704F1E7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1450000"/>
            <a:ext cx="78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对于有高品质要求的美术资源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我是GPT Image 2多次尝试、精调、试错。对于要求不高的美术资源，我部署了一个本地快速生图方案，就是我那天在群里说的，通过模型裁切，用FLUX模型在5060显卡上做到0.8s一张像素画，从而实现小Icon的快速产出</a:t>
            </a:r>
          </a:p>
        </p:txBody>
      </p:sp>
      <p:sp>
        <p:nvSpPr>
          <p:cNvPr id="130" name="Google Shape;130;p19">
            <a:extLst xmlns:a="http://schemas.openxmlformats.org/drawingml/2006/main">
              <a:ext uri="{FF2B5EF4-FFF2-40B4-BE49-F238E27FC236}">
                <a16:creationId xmlns:a16="http://schemas.microsoft.com/office/drawing/2014/main" id="{78742061-FD33-48C7-BD3C-E9157CA2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6911872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D5FD9F34-3438-4449-9A0B-0AB3115F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36" name="Google Shape;136;p20">
            <a:extLst xmlns:a="http://schemas.openxmlformats.org/drawingml/2006/main">
              <a:ext uri="{FF2B5EF4-FFF2-40B4-BE49-F238E27FC236}">
                <a16:creationId xmlns:a16="http://schemas.microsoft.com/office/drawing/2014/main" id="{8A381800-C683-47E3-8ABC-FB57EBD0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06 / 08</a:t>
            </a:r>
          </a:p>
        </p:txBody>
      </p:sp>
      <p:sp>
        <p:nvSpPr>
          <p:cNvPr id="137" name="Google Shape;137;p20">
            <a:extLst xmlns:a="http://schemas.openxmlformats.org/drawingml/2006/main">
              <a:ext uri="{FF2B5EF4-FFF2-40B4-BE49-F238E27FC236}">
                <a16:creationId xmlns:a16="http://schemas.microsoft.com/office/drawing/2014/main" id="{FAAA074E-2F54-4002-899B-862435DD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核心玩法与设计决策【选填】</a:t>
            </a:r>
          </a:p>
        </p:txBody>
      </p:sp>
      <p:sp>
        <p:nvSpPr>
          <p:cNvPr id="138" name="Google Shape;138;p20">
            <a:extLst xmlns:a="http://schemas.openxmlformats.org/drawingml/2006/main">
              <a:ext uri="{FF2B5EF4-FFF2-40B4-BE49-F238E27FC236}">
                <a16:creationId xmlns:a16="http://schemas.microsoft.com/office/drawing/2014/main" id="{5846473C-334D-455E-AE94-B017492B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75" y="1240100"/>
            <a:ext cx="78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核心玩法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请用一句简单流程描述游戏循环：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________ → ________ → ________ → 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我们最重要的玩法决策【选填】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设计决策 1｜________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为什么这样设计：________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希望给玩家带来的体验：________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设计决策 2｜________（如有）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为什么这样设计：________</a:t>
            </a:r>
          </a:p>
        </p:txBody>
      </p:sp>
      <p:sp>
        <p:nvSpPr>
          <p:cNvPr id="139" name="Google Shape;139;p20">
            <a:extLst xmlns:a="http://schemas.openxmlformats.org/drawingml/2006/main">
              <a:ext uri="{FF2B5EF4-FFF2-40B4-BE49-F238E27FC236}">
                <a16:creationId xmlns:a16="http://schemas.microsoft.com/office/drawing/2014/main" id="{D1A6252D-3AE3-44BB-8B9A-0B4CD4F2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19312728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21">
            <a:extLst xmlns:a="http://schemas.openxmlformats.org/drawingml/2006/main">
              <a:ext uri="{FF2B5EF4-FFF2-40B4-BE49-F238E27FC236}">
                <a16:creationId xmlns:a16="http://schemas.microsoft.com/office/drawing/2014/main" id="{5229359A-1017-4345-9D2D-900D5DB2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45" name="Google Shape;145;p21">
            <a:extLst xmlns:a="http://schemas.openxmlformats.org/drawingml/2006/main">
              <a:ext uri="{FF2B5EF4-FFF2-40B4-BE49-F238E27FC236}">
                <a16:creationId xmlns:a16="http://schemas.microsoft.com/office/drawing/2014/main" id="{744C9FB7-8704-4F00-B2A6-7666C18E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07 / 08</a:t>
            </a:r>
          </a:p>
        </p:txBody>
      </p:sp>
      <p:sp>
        <p:nvSpPr>
          <p:cNvPr id="146" name="Google Shape;146;p21">
            <a:extLst xmlns:a="http://schemas.openxmlformats.org/drawingml/2006/main">
              <a:ext uri="{FF2B5EF4-FFF2-40B4-BE49-F238E27FC236}">
                <a16:creationId xmlns:a16="http://schemas.microsoft.com/office/drawing/2014/main" id="{F8A2BD45-3823-4E15-AC54-B9565F5D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表现与实现亮点【选填】</a:t>
            </a:r>
          </a:p>
        </p:txBody>
      </p:sp>
      <p:sp>
        <p:nvSpPr>
          <p:cNvPr id="147" name="Google Shape;147;p21">
            <a:extLst xmlns:a="http://schemas.openxmlformats.org/drawingml/2006/main">
              <a:ext uri="{FF2B5EF4-FFF2-40B4-BE49-F238E27FC236}">
                <a16:creationId xmlns:a16="http://schemas.microsoft.com/office/drawing/2014/main" id="{2EA11BC9-C005-48A3-B0AB-A29A4D2A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1158475"/>
            <a:ext cx="78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不需要面面俱到，请选择本作最值得评委关注的 1–2 项。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可选方向：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技术实现 / 特殊系统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美术风格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动画与视觉反馈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音乐 / 音效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操作与交互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AI 工具或特殊开发方式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其他实现难点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亮点 1｜________  简要说明：________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亮点 2｜________  简要说明：________</a:t>
            </a:r>
          </a:p>
        </p:txBody>
      </p:sp>
      <p:sp>
        <p:nvSpPr>
          <p:cNvPr id="148" name="Google Shape;148;p21">
            <a:extLst xmlns:a="http://schemas.openxmlformats.org/drawingml/2006/main">
              <a:ext uri="{FF2B5EF4-FFF2-40B4-BE49-F238E27FC236}">
                <a16:creationId xmlns:a16="http://schemas.microsoft.com/office/drawing/2014/main" id="{491A26F0-5214-44FF-AF26-6463B422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14000335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Google Shape;153;p22">
            <a:extLst xmlns:a="http://schemas.openxmlformats.org/drawingml/2006/main">
              <a:ext uri="{FF2B5EF4-FFF2-40B4-BE49-F238E27FC236}">
                <a16:creationId xmlns:a16="http://schemas.microsoft.com/office/drawing/2014/main" id="{466F4F01-84BD-4D0A-A437-BA52EC32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54" name="Google Shape;154;p22">
            <a:extLst xmlns:a="http://schemas.openxmlformats.org/drawingml/2006/main">
              <a:ext uri="{FF2B5EF4-FFF2-40B4-BE49-F238E27FC236}">
                <a16:creationId xmlns:a16="http://schemas.microsoft.com/office/drawing/2014/main" id="{10136441-8E8F-4F60-A987-57D7AA99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08 / 08</a:t>
            </a:r>
          </a:p>
        </p:txBody>
      </p:sp>
      <p:sp>
        <p:nvSpPr>
          <p:cNvPr id="155" name="Google Shape;155;p22">
            <a:extLst xmlns:a="http://schemas.openxmlformats.org/drawingml/2006/main">
              <a:ext uri="{FF2B5EF4-FFF2-40B4-BE49-F238E27FC236}">
                <a16:creationId xmlns:a16="http://schemas.microsoft.com/office/drawing/2014/main" id="{4EBE0C75-00FD-4CD5-BC80-C94235C7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希望评委记住……【选填】</a:t>
            </a:r>
          </a:p>
        </p:txBody>
      </p:sp>
      <p:sp>
        <p:nvSpPr>
          <p:cNvPr id="156" name="Google Shape;156;p22">
            <a:extLst xmlns:a="http://schemas.openxmlformats.org/drawingml/2006/main">
              <a:ext uri="{FF2B5EF4-FFF2-40B4-BE49-F238E27FC236}">
                <a16:creationId xmlns:a16="http://schemas.microsoft.com/office/drawing/2014/main" id="{DF85E3C6-C15B-49F9-ABFA-EB9565DD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1408375"/>
            <a:ext cx="78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如果路演结束后，只希望评委记住这个作品的 3 件事：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01｜________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02｜________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03｜________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建议节奏：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作品简介 + 核心体验：30 秒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主题理解与体现：1 分钟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灵感来源 + 创新点：1 分 30 秒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核心玩法与设计决策：1 分钟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表现 / 技术亮点 + 总结：1 分钟</a:t>
            </a:r>
          </a:p>
        </p:txBody>
      </p:sp>
      <p:sp>
        <p:nvSpPr>
          <p:cNvPr id="157" name="Google Shape;157;p22">
            <a:extLst xmlns:a="http://schemas.openxmlformats.org/drawingml/2006/main">
              <a:ext uri="{FF2B5EF4-FFF2-40B4-BE49-F238E27FC236}">
                <a16:creationId xmlns:a16="http://schemas.microsoft.com/office/drawing/2014/main" id="{C1F67680-1AC5-46BE-935C-C60E6402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2123478205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2026-09-01T10:49:27.7850000Z</dcterms:created>
  <dcterms:modified xsi:type="dcterms:W3CDTF">2026-09-01T10:49:27.7850000Z</dcterms:modified>
</coreProperties>
</file>