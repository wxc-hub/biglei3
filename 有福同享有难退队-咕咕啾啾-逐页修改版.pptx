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embeddedFontLst>
    <p:embeddedFont>
      <p:font typeface="Garamond" panose="02020404030301010803" pitchFamily="18" charset="0"/>
      <p:regular r:id="rId12"/>
      <p:bold r:id="rId13"/>
      <p:italic r:id="rId14"/>
    </p:embeddedFont>
    <p:embeddedFont>
      <p:font typeface="Noto Sans TC" panose="020B0200000000000000" pitchFamily="34" charset="-128"/>
      <p:regular r:id="rId15"/>
      <p:bold r:id="rId16"/>
    </p:embeddedFont>
    <p:embeddedFont>
      <p:font typeface="Palatino Linotype" panose="02040502050505030304" pitchFamily="18" charset="0"/>
      <p:regular r:id="rId17"/>
      <p:bold r:id="rId18"/>
      <p:italic r:id="rId19"/>
      <p:boldItalic r:id="rId20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>
            <a:extLst>
              <a:ext uri="{FF2B5EF4-FFF2-40B4-BE49-F238E27FC236}">
                <a16:creationId xmlns:a16="http://schemas.microsoft.com/office/drawing/2014/main" id="{116ADF8D-0DCC-49D8-994D-94527753726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" name="Google Shape;17;p2"/>
          <p:cNvPicPr>
            <a:picLocks noChangeAspect="1"/>
          </p:cNvPicPr>
          <p:nvPr/>
        </p:nvPicPr>
        <p:blipFill rotWithShape="1">
          <a:blip r:embed="rId2"/>
          <a:srcRect l="3201" t="2894" r="3201" b="3129"/>
          <a:stretch>
            <a:fillRect/>
          </a:stretch>
        </p:blipFill>
        <p:spPr>
          <a:xfrm>
            <a:off x="97400" y="4663225"/>
            <a:ext cx="1292627" cy="393600"/>
          </a:xfrm>
          <a:prstGeom prst="rect">
            <a:avLst/>
          </a:prstGeom>
          <a:ln>
            <a:noFill/>
          </a:ln>
        </p:spPr>
      </p:pic>
      <p:pic>
        <p:nvPicPr>
          <p:cNvPr id="22" name="Google Shape;18;p2"/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3741234" cy="2481275"/>
          </a:xfrm>
          <a:prstGeom prst="rect">
            <a:avLst/>
          </a:prstGeom>
          <a:ln>
            <a:noFill/>
          </a:ln>
        </p:spPr>
      </p:pic>
      <p:pic>
        <p:nvPicPr>
          <p:cNvPr id="23" name="Google Shape;19;p2"/>
          <p:cNvPicPr>
            <a:picLocks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824651" y="3090900"/>
            <a:ext cx="3319349" cy="20526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>
            <a:extLst>
              <a:ext uri="{FF2B5EF4-FFF2-40B4-BE49-F238E27FC236}">
                <a16:creationId xmlns:a16="http://schemas.microsoft.com/office/drawing/2014/main" id="{851F7FFF-EA97-410E-A2E3-36D84130C4B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3">
            <a:extLst>
              <a:ext uri="{FF2B5EF4-FFF2-40B4-BE49-F238E27FC236}">
                <a16:creationId xmlns:a16="http://schemas.microsoft.com/office/drawing/2014/main" id="{EA87E88D-6A3B-44B7-A444-6E9CB17CAD76}"/>
              </a:ext>
            </a:extLst>
          </p:cNvPr>
          <p:cNvSpPr>
            <a:spLocks noGrp="1"/>
          </p:cNvSpPr>
          <p:nvPr/>
        </p:nvSpPr>
        <p:spPr>
          <a:xfrm>
            <a:off x="-14" y="733085"/>
            <a:ext cx="8516797" cy="51054"/>
          </a:xfrm>
          <a:custGeom>
            <a:avLst/>
            <a:gdLst/>
            <a:ahLst/>
            <a:cxnLst/>
            <a:rect l="l" t="t" r="r" b="b"/>
            <a:pathLst>
              <a:path w="9436894" h="152400">
                <a:moveTo>
                  <a:pt x="0" y="0"/>
                </a:moveTo>
                <a:lnTo>
                  <a:pt x="9436894" y="0"/>
                </a:lnTo>
                <a:lnTo>
                  <a:pt x="9402763" y="152400"/>
                </a:lnTo>
                <a:lnTo>
                  <a:pt x="0" y="152038"/>
                </a:lnTo>
              </a:path>
            </a:pathLst>
          </a:cu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710" b="0" i="0" u="none" cap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" name="Google Shape;23;p3">
            <a:extLst>
              <a:ext uri="{FF2B5EF4-FFF2-40B4-BE49-F238E27FC236}">
                <a16:creationId xmlns:a16="http://schemas.microsoft.com/office/drawing/2014/main" id="{556BE923-4570-4CF2-917F-04F714FFE06F}"/>
              </a:ext>
            </a:extLst>
          </p:cNvPr>
          <p:cNvSpPr>
            <a:spLocks noGrp="1"/>
          </p:cNvSpPr>
          <p:nvPr/>
        </p:nvSpPr>
        <p:spPr>
          <a:xfrm>
            <a:off x="5" y="4973814"/>
            <a:ext cx="4999500" cy="1176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43400" tIns="45700" rIns="43400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6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Private and Confidential</a:t>
            </a:r>
          </a:p>
        </p:txBody>
      </p:sp>
      <p:sp>
        <p:nvSpPr>
          <p:cNvPr id="24" name="Google Shape;24;p3">
            <a:extLst>
              <a:ext uri="{FF2B5EF4-FFF2-40B4-BE49-F238E27FC236}">
                <a16:creationId xmlns:a16="http://schemas.microsoft.com/office/drawing/2014/main" id="{B7680E37-B090-4B7E-BEB5-01706C0DE00C}"/>
              </a:ext>
            </a:extLst>
          </p:cNvPr>
          <p:cNvSpPr>
            <a:spLocks noGrp="1"/>
          </p:cNvSpPr>
          <p:nvPr/>
        </p:nvSpPr>
        <p:spPr>
          <a:xfrm rot="10800000">
            <a:off x="-140" y="5124000"/>
            <a:ext cx="9144000" cy="195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86775" tIns="43375" rIns="86775" bIns="43375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045">
              <a:solidFill>
                <a:srgbClr val="000000"/>
              </a:solidFill>
              <a:latin typeface="Palatino Linotype"/>
              <a:ea typeface="Palatino Linotype"/>
              <a:cs typeface="Palatino Linotype"/>
            </a:endParaRPr>
          </a:p>
        </p:txBody>
      </p:sp>
      <p:sp>
        <p:nvSpPr>
          <p:cNvPr id="25" name="Google Shape;25;p3">
            <a:extLst>
              <a:ext uri="{FF2B5EF4-FFF2-40B4-BE49-F238E27FC236}">
                <a16:creationId xmlns:a16="http://schemas.microsoft.com/office/drawing/2014/main" id="{D6319BF5-23A5-44B9-9CC4-8BF41805735E}"/>
              </a:ext>
            </a:extLst>
          </p:cNvPr>
          <p:cNvSpPr>
            <a:spLocks noGrp="1"/>
          </p:cNvSpPr>
          <p:nvPr/>
        </p:nvSpPr>
        <p:spPr>
          <a:xfrm>
            <a:off x="-14" y="0"/>
            <a:ext cx="4573200" cy="129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86775" tIns="43375" rIns="86775" bIns="43375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95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" name="Google Shape;26;p3">
            <a:extLst>
              <a:ext uri="{FF2B5EF4-FFF2-40B4-BE49-F238E27FC236}">
                <a16:creationId xmlns:a16="http://schemas.microsoft.com/office/drawing/2014/main" id="{DE3E68D9-545E-47BD-8FA7-4C8DFA80950F}"/>
              </a:ext>
            </a:extLst>
          </p:cNvPr>
          <p:cNvSpPr>
            <a:spLocks noGrp="1"/>
          </p:cNvSpPr>
          <p:nvPr/>
        </p:nvSpPr>
        <p:spPr>
          <a:xfrm>
            <a:off x="-14" y="0"/>
            <a:ext cx="9144000" cy="12900"/>
          </a:xfrm>
          <a:prstGeom prst="rect">
            <a:avLst/>
          </a:prstGeom>
          <a:solidFill>
            <a:srgbClr val="A5A5A5">
              <a:alpha val="60780"/>
            </a:srgbClr>
          </a:solidFill>
          <a:ln>
            <a:noFill/>
          </a:ln>
        </p:spPr>
        <p:txBody>
          <a:bodyPr spcFirstLastPara="1" wrap="square" lIns="86775" tIns="43375" rIns="86775" bIns="43375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950" b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Google Shape;27;p3">
            <a:extLst>
              <a:ext uri="{FF2B5EF4-FFF2-40B4-BE49-F238E27FC236}">
                <a16:creationId xmlns:a16="http://schemas.microsoft.com/office/drawing/2014/main" id="{1C1B7475-4430-4602-8139-776CAC60F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25" y="290300"/>
            <a:ext cx="59748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1pPr>
            <a:lvl2pPr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>
            <a:extLst>
              <a:ext uri="{FF2B5EF4-FFF2-40B4-BE49-F238E27FC236}">
                <a16:creationId xmlns:a16="http://schemas.microsoft.com/office/drawing/2014/main" id="{7C9D7F84-6634-437C-9121-DC58A5A4B7A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2533C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65" b="0" i="0" u="none" cap="none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Google Shape;30;p4">
            <a:extLst>
              <a:ext uri="{FF2B5EF4-FFF2-40B4-BE49-F238E27FC236}">
                <a16:creationId xmlns:a16="http://schemas.microsoft.com/office/drawing/2014/main" id="{77C23087-3B6F-4345-A25D-789AF5E3C49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4">
            <a:extLst>
              <a:ext uri="{FF2B5EF4-FFF2-40B4-BE49-F238E27FC236}">
                <a16:creationId xmlns:a16="http://schemas.microsoft.com/office/drawing/2014/main" id="{D42797CA-A875-492C-8A48-DCF88BB519DD}"/>
              </a:ext>
            </a:extLst>
          </p:cNvPr>
          <p:cNvSpPr>
            <a:spLocks noGrp="1"/>
          </p:cNvSpPr>
          <p:nvPr/>
        </p:nvSpPr>
        <p:spPr>
          <a:xfrm>
            <a:off x="3694675" y="4867535"/>
            <a:ext cx="1809300" cy="1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Garamond"/>
              <a:buNone/>
            </a:pPr>
            <a:r>
              <a:rPr sz="1065" b="0" i="0" u="none" cap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Private and Confidential</a:t>
            </a:r>
            <a:endParaRPr sz="1465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Google Shape;33;p4">
            <a:extLst>
              <a:ext uri="{FF2B5EF4-FFF2-40B4-BE49-F238E27FC236}">
                <a16:creationId xmlns:a16="http://schemas.microsoft.com/office/drawing/2014/main" id="{C3CDA7F0-2310-4828-8E00-D19D471F7433}"/>
              </a:ext>
            </a:extLst>
          </p:cNvPr>
          <p:cNvSpPr>
            <a:spLocks noGrp="1"/>
          </p:cNvSpPr>
          <p:nvPr/>
        </p:nvSpPr>
        <p:spPr>
          <a:xfrm>
            <a:off x="3492674" y="1749688"/>
            <a:ext cx="2236469" cy="467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Garamond"/>
              <a:buNone/>
            </a:pPr>
            <a:r>
              <a:rPr sz="3200" b="0" i="0" u="none" cap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Thank you!</a:t>
            </a:r>
          </a:p>
        </p:txBody>
      </p:sp>
      <p:sp>
        <p:nvSpPr>
          <p:cNvPr id="34" name="Google Shape;34;p4">
            <a:extLst>
              <a:ext uri="{FF2B5EF4-FFF2-40B4-BE49-F238E27FC236}">
                <a16:creationId xmlns:a16="http://schemas.microsoft.com/office/drawing/2014/main" id="{FF6BF2A6-6519-48A9-B821-6CCAD3EC4BD4}"/>
              </a:ext>
            </a:extLst>
          </p:cNvPr>
          <p:cNvSpPr>
            <a:spLocks noGrp="1"/>
          </p:cNvSpPr>
          <p:nvPr/>
        </p:nvSpPr>
        <p:spPr>
          <a:xfrm>
            <a:off x="2379500" y="2517675"/>
            <a:ext cx="1387241" cy="512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aramond"/>
              <a:buNone/>
            </a:pPr>
            <a:r>
              <a:rPr sz="3600" b="0" i="0" u="none" cap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謝謝</a:t>
            </a:r>
          </a:p>
        </p:txBody>
      </p:sp>
      <p:sp>
        <p:nvSpPr>
          <p:cNvPr id="35" name="Google Shape;35;p4">
            <a:extLst>
              <a:ext uri="{FF2B5EF4-FFF2-40B4-BE49-F238E27FC236}">
                <a16:creationId xmlns:a16="http://schemas.microsoft.com/office/drawing/2014/main" id="{584AC224-35DA-4EDB-87ED-2484F38A64C4}"/>
              </a:ext>
            </a:extLst>
          </p:cNvPr>
          <p:cNvSpPr>
            <a:spLocks noGrp="1"/>
          </p:cNvSpPr>
          <p:nvPr/>
        </p:nvSpPr>
        <p:spPr>
          <a:xfrm>
            <a:off x="4770131" y="2517675"/>
            <a:ext cx="2546727" cy="423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aramond"/>
              <a:buNone/>
            </a:pPr>
            <a:r>
              <a:rPr sz="2800" b="0" i="0" u="none" cap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Terima kasih</a:t>
            </a:r>
            <a:endParaRPr sz="1065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Google Shape;36;p4">
            <a:extLst>
              <a:ext uri="{FF2B5EF4-FFF2-40B4-BE49-F238E27FC236}">
                <a16:creationId xmlns:a16="http://schemas.microsoft.com/office/drawing/2014/main" id="{38932DED-09F2-46A1-802F-BAC7EB0AD856}"/>
              </a:ext>
            </a:extLst>
          </p:cNvPr>
          <p:cNvSpPr>
            <a:spLocks noGrp="1"/>
          </p:cNvSpPr>
          <p:nvPr/>
        </p:nvSpPr>
        <p:spPr>
          <a:xfrm>
            <a:off x="4902626" y="610075"/>
            <a:ext cx="2414214" cy="423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sz="28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Cảm ơn bạn</a:t>
            </a:r>
            <a:endParaRPr sz="2800" b="0" i="0" u="none" cap="none">
              <a:solidFill>
                <a:srgbClr val="FFFFFF"/>
              </a:solidFill>
              <a:latin typeface="Garamond"/>
              <a:ea typeface="Garamond"/>
              <a:cs typeface="Garamond"/>
            </a:endParaRPr>
          </a:p>
        </p:txBody>
      </p:sp>
      <p:sp>
        <p:nvSpPr>
          <p:cNvPr id="37" name="Google Shape;37;p4">
            <a:extLst>
              <a:ext uri="{FF2B5EF4-FFF2-40B4-BE49-F238E27FC236}">
                <a16:creationId xmlns:a16="http://schemas.microsoft.com/office/drawing/2014/main" id="{92C0669F-4558-4DE0-B761-EF3DA02CAF94}"/>
              </a:ext>
            </a:extLst>
          </p:cNvPr>
          <p:cNvSpPr>
            <a:spLocks noGrp="1"/>
          </p:cNvSpPr>
          <p:nvPr/>
        </p:nvSpPr>
        <p:spPr>
          <a:xfrm>
            <a:off x="1527478" y="1514525"/>
            <a:ext cx="1492359" cy="423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aramond"/>
              <a:buNone/>
            </a:pPr>
            <a:r>
              <a:rPr sz="2800" b="0" i="0" u="none" cap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Salamat</a:t>
            </a:r>
            <a:endParaRPr sz="1065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Google Shape;38;p4">
            <a:extLst>
              <a:ext uri="{FF2B5EF4-FFF2-40B4-BE49-F238E27FC236}">
                <a16:creationId xmlns:a16="http://schemas.microsoft.com/office/drawing/2014/main" id="{BCE6BE7E-41FD-44AC-9314-66E573946814}"/>
              </a:ext>
            </a:extLst>
          </p:cNvPr>
          <p:cNvSpPr>
            <a:spLocks noGrp="1"/>
          </p:cNvSpPr>
          <p:nvPr/>
        </p:nvSpPr>
        <p:spPr>
          <a:xfrm>
            <a:off x="5747475" y="1443025"/>
            <a:ext cx="2153967" cy="423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sz="28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감사합니다</a:t>
            </a:r>
          </a:p>
        </p:txBody>
      </p:sp>
      <p:sp>
        <p:nvSpPr>
          <p:cNvPr id="39" name="Google Shape;39;p4">
            <a:extLst>
              <a:ext uri="{FF2B5EF4-FFF2-40B4-BE49-F238E27FC236}">
                <a16:creationId xmlns:a16="http://schemas.microsoft.com/office/drawing/2014/main" id="{2742692C-83FF-4DEF-A778-581581E74354}"/>
              </a:ext>
            </a:extLst>
          </p:cNvPr>
          <p:cNvSpPr>
            <a:spLocks noGrp="1"/>
          </p:cNvSpPr>
          <p:nvPr/>
        </p:nvSpPr>
        <p:spPr>
          <a:xfrm>
            <a:off x="2382071" y="729100"/>
            <a:ext cx="2477922" cy="6678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Calibri"/>
              <a:buNone/>
            </a:pPr>
            <a:r>
              <a:rPr sz="5065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ขอบคุณ</a:t>
            </a:r>
          </a:p>
        </p:txBody>
      </p:sp>
      <p:cxnSp>
        <p:nvCxnSpPr>
          <p:cNvPr id="51" name="Google Shape;40;p4"/>
          <p:cNvCxnSpPr/>
          <p:nvPr/>
        </p:nvCxnSpPr>
        <p:spPr>
          <a:xfrm>
            <a:off x="1007269" y="3347117"/>
            <a:ext cx="7129500" cy="0"/>
          </a:xfrm>
          <a:prstGeom prst="straightConnector1">
            <a:avLst/>
          </a:prstGeom>
          <a:ln w="9525" cap="flat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>
            <a:extLst>
              <a:ext uri="{FF2B5EF4-FFF2-40B4-BE49-F238E27FC236}">
                <a16:creationId xmlns:a16="http://schemas.microsoft.com/office/drawing/2014/main" id="{4C9A599C-F1B4-4CAF-A302-838451B3A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">
            <a:extLst>
              <a:ext uri="{FF2B5EF4-FFF2-40B4-BE49-F238E27FC236}">
                <a16:creationId xmlns:a16="http://schemas.microsoft.com/office/drawing/2014/main" id="{1BB54976-109D-43D1-B5B0-3901EA52FA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4" name="Google Shape;44;p5">
            <a:extLst>
              <a:ext uri="{FF2B5EF4-FFF2-40B4-BE49-F238E27FC236}">
                <a16:creationId xmlns:a16="http://schemas.microsoft.com/office/drawing/2014/main" id="{80881A6C-AABA-42A8-8577-ABD7E42F8CF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5">
            <a:extLst>
              <a:ext uri="{FF2B5EF4-FFF2-40B4-BE49-F238E27FC236}">
                <a16:creationId xmlns:a16="http://schemas.microsoft.com/office/drawing/2014/main" id="{0C0C80E5-7140-42CA-9297-42E2838B1FE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>
            <a:extLst>
              <a:ext uri="{FF2B5EF4-FFF2-40B4-BE49-F238E27FC236}">
                <a16:creationId xmlns:a16="http://schemas.microsoft.com/office/drawing/2014/main" id="{36EBC89D-27C1-4CBA-9CA8-AC9A0CDEF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>
            <a:extLst>
              <a:ext uri="{FF2B5EF4-FFF2-40B4-BE49-F238E27FC236}">
                <a16:creationId xmlns:a16="http://schemas.microsoft.com/office/drawing/2014/main" id="{7A93B429-E653-4A63-A1D0-D327699CFC9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>
            <a:extLst>
              <a:ext uri="{FF2B5EF4-FFF2-40B4-BE49-F238E27FC236}">
                <a16:creationId xmlns:a16="http://schemas.microsoft.com/office/drawing/2014/main" id="{B318C088-2DBC-4FF4-B5CD-D7D27F43D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1" name="Google Shape;51;p7">
            <a:extLst>
              <a:ext uri="{FF2B5EF4-FFF2-40B4-BE49-F238E27FC236}">
                <a16:creationId xmlns:a16="http://schemas.microsoft.com/office/drawing/2014/main" id="{1ACC1C21-022B-46FC-95CB-6E8D9890CE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2" name="Google Shape;52;p7">
            <a:extLst>
              <a:ext uri="{FF2B5EF4-FFF2-40B4-BE49-F238E27FC236}">
                <a16:creationId xmlns:a16="http://schemas.microsoft.com/office/drawing/2014/main" id="{FE39FB08-095D-4997-AE00-C62E5D3DFFC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>
            <a:extLst>
              <a:ext uri="{FF2B5EF4-FFF2-40B4-BE49-F238E27FC236}">
                <a16:creationId xmlns:a16="http://schemas.microsoft.com/office/drawing/2014/main" id="{214F4C30-BE47-40E3-8EC1-58A7B82A3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5" name="Google Shape;55;p8">
            <a:extLst>
              <a:ext uri="{FF2B5EF4-FFF2-40B4-BE49-F238E27FC236}">
                <a16:creationId xmlns:a16="http://schemas.microsoft.com/office/drawing/2014/main" id="{E74DDF82-7F2F-4844-BBE0-894A494C16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>
            <a:extLst>
              <a:ext uri="{FF2B5EF4-FFF2-40B4-BE49-F238E27FC236}">
                <a16:creationId xmlns:a16="http://schemas.microsoft.com/office/drawing/2014/main" id="{F610F6A3-25EB-4D5D-B394-E5BF8C3E2F4D}"/>
              </a:ext>
            </a:extLst>
          </p:cNvPr>
          <p:cNvSpPr>
            <a:spLocks noGrp="1"/>
          </p:cNvSpPr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9">
            <a:extLst>
              <a:ext uri="{FF2B5EF4-FFF2-40B4-BE49-F238E27FC236}">
                <a16:creationId xmlns:a16="http://schemas.microsoft.com/office/drawing/2014/main" id="{1D245236-7EAB-4A29-BF9D-A9E1781A4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9" name="Google Shape;59;p9">
            <a:extLst>
              <a:ext uri="{FF2B5EF4-FFF2-40B4-BE49-F238E27FC236}">
                <a16:creationId xmlns:a16="http://schemas.microsoft.com/office/drawing/2014/main" id="{26F8CE94-FDDA-4ED0-BC43-E4EFE32F0C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0" name="Google Shape;60;p9">
            <a:extLst>
              <a:ext uri="{FF2B5EF4-FFF2-40B4-BE49-F238E27FC236}">
                <a16:creationId xmlns:a16="http://schemas.microsoft.com/office/drawing/2014/main" id="{B01AB1CD-9917-4D26-B8C3-8E703AEBC5B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9">
            <a:extLst>
              <a:ext uri="{FF2B5EF4-FFF2-40B4-BE49-F238E27FC236}">
                <a16:creationId xmlns:a16="http://schemas.microsoft.com/office/drawing/2014/main" id="{FA148AEF-1580-4BEF-AF77-C1D37379036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>
            <a:extLst>
              <a:ext uri="{FF2B5EF4-FFF2-40B4-BE49-F238E27FC236}">
                <a16:creationId xmlns:a16="http://schemas.microsoft.com/office/drawing/2014/main" id="{231C7F30-F83C-4B18-8E87-8733D1A0AD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64" name="Google Shape;64;p10">
            <a:extLst>
              <a:ext uri="{FF2B5EF4-FFF2-40B4-BE49-F238E27FC236}">
                <a16:creationId xmlns:a16="http://schemas.microsoft.com/office/drawing/2014/main" id="{89F4EE0D-9B9D-4452-8A22-812C9A7A1EA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>
            <a:extLst>
              <a:ext uri="{FF2B5EF4-FFF2-40B4-BE49-F238E27FC236}">
                <a16:creationId xmlns:a16="http://schemas.microsoft.com/office/drawing/2014/main" id="{E353DC2C-697A-4CAC-8D1F-5604C20FBA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7" name="Google Shape;67;p11">
            <a:extLst>
              <a:ext uri="{FF2B5EF4-FFF2-40B4-BE49-F238E27FC236}">
                <a16:creationId xmlns:a16="http://schemas.microsoft.com/office/drawing/2014/main" id="{D39EAD8E-4C56-40E1-9C33-455758DE9B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11">
            <a:extLst>
              <a:ext uri="{FF2B5EF4-FFF2-40B4-BE49-F238E27FC236}">
                <a16:creationId xmlns:a16="http://schemas.microsoft.com/office/drawing/2014/main" id="{DA7CE37F-F046-4637-BAE4-9423BA73D9A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2">
            <a:extLst>
              <a:ext uri="{FF2B5EF4-FFF2-40B4-BE49-F238E27FC236}">
                <a16:creationId xmlns:a16="http://schemas.microsoft.com/office/drawing/2014/main" id="{188DA52E-5F44-456F-A500-9A799F7AA53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>
            <a:extLst>
              <a:ext uri="{FF2B5EF4-FFF2-40B4-BE49-F238E27FC236}">
                <a16:creationId xmlns:a16="http://schemas.microsoft.com/office/drawing/2014/main" id="{01AC826D-67B7-4664-8527-09D34DBD6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Noto Sans TC"/>
              <a:buNone/>
              <a:defRPr sz="2800">
                <a:solidFill>
                  <a:srgbClr val="434343"/>
                </a:solidFill>
                <a:latin typeface="Noto Sans TC"/>
                <a:ea typeface="Noto Sans TC"/>
                <a:cs typeface="Noto Sans TC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Noto Sans TC"/>
              <a:buNone/>
              <a:defRPr sz="2800">
                <a:solidFill>
                  <a:srgbClr val="434343"/>
                </a:solidFill>
                <a:latin typeface="Noto Sans TC"/>
                <a:ea typeface="Noto Sans TC"/>
                <a:cs typeface="Noto Sans TC"/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Noto Sans TC"/>
              <a:buNone/>
              <a:defRPr sz="2800">
                <a:solidFill>
                  <a:srgbClr val="434343"/>
                </a:solidFill>
                <a:latin typeface="Noto Sans TC"/>
                <a:ea typeface="Noto Sans TC"/>
                <a:cs typeface="Noto Sans TC"/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Noto Sans TC"/>
              <a:buNone/>
              <a:defRPr sz="2800">
                <a:solidFill>
                  <a:srgbClr val="434343"/>
                </a:solidFill>
                <a:latin typeface="Noto Sans TC"/>
                <a:ea typeface="Noto Sans TC"/>
                <a:cs typeface="Noto Sans TC"/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Noto Sans TC"/>
              <a:buNone/>
              <a:defRPr sz="2800">
                <a:solidFill>
                  <a:srgbClr val="434343"/>
                </a:solidFill>
                <a:latin typeface="Noto Sans TC"/>
                <a:ea typeface="Noto Sans TC"/>
                <a:cs typeface="Noto Sans TC"/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Noto Sans TC"/>
              <a:buNone/>
              <a:defRPr sz="2800">
                <a:solidFill>
                  <a:srgbClr val="434343"/>
                </a:solidFill>
                <a:latin typeface="Noto Sans TC"/>
                <a:ea typeface="Noto Sans TC"/>
                <a:cs typeface="Noto Sans TC"/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Noto Sans TC"/>
              <a:buNone/>
              <a:defRPr sz="2800">
                <a:solidFill>
                  <a:srgbClr val="434343"/>
                </a:solidFill>
                <a:latin typeface="Noto Sans TC"/>
                <a:ea typeface="Noto Sans TC"/>
                <a:cs typeface="Noto Sans TC"/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Noto Sans TC"/>
              <a:buNone/>
              <a:defRPr sz="2800">
                <a:solidFill>
                  <a:srgbClr val="434343"/>
                </a:solidFill>
                <a:latin typeface="Noto Sans TC"/>
                <a:ea typeface="Noto Sans TC"/>
                <a:cs typeface="Noto Sans TC"/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Noto Sans TC"/>
              <a:buNone/>
              <a:defRPr sz="2800">
                <a:solidFill>
                  <a:srgbClr val="434343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endParaRPr/>
          </a:p>
        </p:txBody>
      </p:sp>
      <p:sp>
        <p:nvSpPr>
          <p:cNvPr id="7" name="Google Shape;7;p1">
            <a:extLst>
              <a:ext uri="{FF2B5EF4-FFF2-40B4-BE49-F238E27FC236}">
                <a16:creationId xmlns:a16="http://schemas.microsoft.com/office/drawing/2014/main" id="{88887EEE-6568-4034-B608-C8033A1A3B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Noto Sans TC"/>
              <a:buChar char="●"/>
              <a:defRPr sz="1800">
                <a:solidFill>
                  <a:srgbClr val="434343"/>
                </a:solidFill>
                <a:latin typeface="Noto Sans TC"/>
                <a:ea typeface="Noto Sans TC"/>
                <a:cs typeface="Noto Sans TC"/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oto Sans TC"/>
              <a:buChar char="○"/>
              <a:defRPr>
                <a:solidFill>
                  <a:srgbClr val="434343"/>
                </a:solidFill>
                <a:latin typeface="Noto Sans TC"/>
                <a:ea typeface="Noto Sans TC"/>
                <a:cs typeface="Noto Sans TC"/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oto Sans TC"/>
              <a:buChar char="■"/>
              <a:defRPr>
                <a:solidFill>
                  <a:srgbClr val="434343"/>
                </a:solidFill>
                <a:latin typeface="Noto Sans TC"/>
                <a:ea typeface="Noto Sans TC"/>
                <a:cs typeface="Noto Sans TC"/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oto Sans TC"/>
              <a:buChar char="●"/>
              <a:defRPr>
                <a:solidFill>
                  <a:srgbClr val="434343"/>
                </a:solidFill>
                <a:latin typeface="Noto Sans TC"/>
                <a:ea typeface="Noto Sans TC"/>
                <a:cs typeface="Noto Sans TC"/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oto Sans TC"/>
              <a:buChar char="○"/>
              <a:defRPr>
                <a:solidFill>
                  <a:srgbClr val="434343"/>
                </a:solidFill>
                <a:latin typeface="Noto Sans TC"/>
                <a:ea typeface="Noto Sans TC"/>
                <a:cs typeface="Noto Sans TC"/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oto Sans TC"/>
              <a:buChar char="■"/>
              <a:defRPr>
                <a:solidFill>
                  <a:srgbClr val="434343"/>
                </a:solidFill>
                <a:latin typeface="Noto Sans TC"/>
                <a:ea typeface="Noto Sans TC"/>
                <a:cs typeface="Noto Sans TC"/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oto Sans TC"/>
              <a:buChar char="●"/>
              <a:defRPr>
                <a:solidFill>
                  <a:srgbClr val="434343"/>
                </a:solidFill>
                <a:latin typeface="Noto Sans TC"/>
                <a:ea typeface="Noto Sans TC"/>
                <a:cs typeface="Noto Sans TC"/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oto Sans TC"/>
              <a:buChar char="○"/>
              <a:defRPr>
                <a:solidFill>
                  <a:srgbClr val="434343"/>
                </a:solidFill>
                <a:latin typeface="Noto Sans TC"/>
                <a:ea typeface="Noto Sans TC"/>
                <a:cs typeface="Noto Sans TC"/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oto Sans TC"/>
              <a:buChar char="■"/>
              <a:defRPr>
                <a:solidFill>
                  <a:srgbClr val="434343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endParaRPr/>
          </a:p>
        </p:txBody>
      </p:sp>
      <p:sp>
        <p:nvSpPr>
          <p:cNvPr id="8" name="Google Shape;8;p1">
            <a:extLst>
              <a:ext uri="{FF2B5EF4-FFF2-40B4-BE49-F238E27FC236}">
                <a16:creationId xmlns:a16="http://schemas.microsoft.com/office/drawing/2014/main" id="{A5D13A91-5580-4BF7-B7A7-20AF1AC770A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9;p1">
            <a:extLst>
              <a:ext uri="{FF2B5EF4-FFF2-40B4-BE49-F238E27FC236}">
                <a16:creationId xmlns:a16="http://schemas.microsoft.com/office/drawing/2014/main" id="{91ABDEE8-EFF5-4ABE-899D-BA6C34AAD33A}"/>
              </a:ext>
            </a:extLst>
          </p:cNvPr>
          <p:cNvSpPr>
            <a:spLocks noGrp="1"/>
          </p:cNvSpPr>
          <p:nvPr/>
        </p:nvSpPr>
        <p:spPr>
          <a:xfrm>
            <a:off x="-460825" y="0"/>
            <a:ext cx="334500" cy="1413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TC"/>
              <a:ea typeface="Noto Sans TC"/>
              <a:cs typeface="Noto Sans TC"/>
            </a:endParaRPr>
          </a:p>
        </p:txBody>
      </p:sp>
      <p:sp>
        <p:nvSpPr>
          <p:cNvPr id="10" name="Google Shape;10;p1">
            <a:extLst>
              <a:ext uri="{FF2B5EF4-FFF2-40B4-BE49-F238E27FC236}">
                <a16:creationId xmlns:a16="http://schemas.microsoft.com/office/drawing/2014/main" id="{5292C16C-613E-4C65-B5D1-2E1D0AC92381}"/>
              </a:ext>
            </a:extLst>
          </p:cNvPr>
          <p:cNvSpPr>
            <a:spLocks noGrp="1"/>
          </p:cNvSpPr>
          <p:nvPr/>
        </p:nvSpPr>
        <p:spPr>
          <a:xfrm>
            <a:off x="-460825" y="185825"/>
            <a:ext cx="334500" cy="141300"/>
          </a:xfrm>
          <a:prstGeom prst="rect">
            <a:avLst/>
          </a:prstGeom>
          <a:solidFill>
            <a:srgbClr val="E06666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TC"/>
              <a:ea typeface="Noto Sans TC"/>
              <a:cs typeface="Noto Sans TC"/>
            </a:endParaRPr>
          </a:p>
        </p:txBody>
      </p:sp>
      <p:sp>
        <p:nvSpPr>
          <p:cNvPr id="11" name="Google Shape;11;p1">
            <a:extLst>
              <a:ext uri="{FF2B5EF4-FFF2-40B4-BE49-F238E27FC236}">
                <a16:creationId xmlns:a16="http://schemas.microsoft.com/office/drawing/2014/main" id="{0DB16544-7B69-4721-BDEA-8A52264CA654}"/>
              </a:ext>
            </a:extLst>
          </p:cNvPr>
          <p:cNvSpPr>
            <a:spLocks noGrp="1"/>
          </p:cNvSpPr>
          <p:nvPr/>
        </p:nvSpPr>
        <p:spPr>
          <a:xfrm>
            <a:off x="-460825" y="371650"/>
            <a:ext cx="334500" cy="1413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TC"/>
              <a:ea typeface="Noto Sans TC"/>
              <a:cs typeface="Noto Sans TC"/>
            </a:endParaRPr>
          </a:p>
        </p:txBody>
      </p:sp>
      <p:sp>
        <p:nvSpPr>
          <p:cNvPr id="12" name="Google Shape;12;p1">
            <a:extLst>
              <a:ext uri="{FF2B5EF4-FFF2-40B4-BE49-F238E27FC236}">
                <a16:creationId xmlns:a16="http://schemas.microsoft.com/office/drawing/2014/main" id="{5C4F33AF-80CD-42C3-B2DD-FEDFA82EBD92}"/>
              </a:ext>
            </a:extLst>
          </p:cNvPr>
          <p:cNvSpPr>
            <a:spLocks noGrp="1"/>
          </p:cNvSpPr>
          <p:nvPr/>
        </p:nvSpPr>
        <p:spPr>
          <a:xfrm>
            <a:off x="-460825" y="557475"/>
            <a:ext cx="334500" cy="1413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TC"/>
              <a:ea typeface="Noto Sans TC"/>
              <a:cs typeface="Noto Sans TC"/>
            </a:endParaRPr>
          </a:p>
        </p:txBody>
      </p:sp>
      <p:sp>
        <p:nvSpPr>
          <p:cNvPr id="13" name="Google Shape;13;p1">
            <a:extLst>
              <a:ext uri="{FF2B5EF4-FFF2-40B4-BE49-F238E27FC236}">
                <a16:creationId xmlns:a16="http://schemas.microsoft.com/office/drawing/2014/main" id="{EBA2C8A5-F151-4081-A63F-5CE6EACB2530}"/>
              </a:ext>
            </a:extLst>
          </p:cNvPr>
          <p:cNvSpPr>
            <a:spLocks noGrp="1"/>
          </p:cNvSpPr>
          <p:nvPr/>
        </p:nvSpPr>
        <p:spPr>
          <a:xfrm>
            <a:off x="-460825" y="743300"/>
            <a:ext cx="334500" cy="1413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TC"/>
              <a:ea typeface="Noto Sans TC"/>
              <a:cs typeface="Noto Sans TC"/>
            </a:endParaRPr>
          </a:p>
        </p:txBody>
      </p:sp>
      <p:sp>
        <p:nvSpPr>
          <p:cNvPr id="14" name="Google Shape;14;p1">
            <a:extLst>
              <a:ext uri="{FF2B5EF4-FFF2-40B4-BE49-F238E27FC236}">
                <a16:creationId xmlns:a16="http://schemas.microsoft.com/office/drawing/2014/main" id="{0D588936-49E4-4747-A34E-42B99A3D71D3}"/>
              </a:ext>
            </a:extLst>
          </p:cNvPr>
          <p:cNvSpPr>
            <a:spLocks noGrp="1"/>
          </p:cNvSpPr>
          <p:nvPr/>
        </p:nvSpPr>
        <p:spPr>
          <a:xfrm>
            <a:off x="-460825" y="929125"/>
            <a:ext cx="334500" cy="1413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TC"/>
              <a:ea typeface="Noto Sans TC"/>
              <a:cs typeface="Noto Sans T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>
            <a:extLst>
              <a:ext uri="{FF2B5EF4-FFF2-40B4-BE49-F238E27FC236}">
                <a16:creationId xmlns:a16="http://schemas.microsoft.com/office/drawing/2014/main" id="{240ED7AC-9CB8-48C7-A2E4-D0DB1B7DDB81}"/>
              </a:ext>
            </a:extLst>
          </p:cNvPr>
          <p:cNvSpPr>
            <a:spLocks noGrp="1"/>
          </p:cNvSpPr>
          <p:nvPr/>
        </p:nvSpPr>
        <p:spPr>
          <a:xfrm>
            <a:off x="927300" y="1891425"/>
            <a:ext cx="7289400" cy="12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SourceHanSerifSC EvaJian"/>
                <a:ea typeface="SourceHanSerifSC EvaJian"/>
                <a:cs typeface="SourceHanSerifSC EvaJian"/>
              </a:defRPr>
            </a:pPr>
            <a:r>
              <a:rPr sz="4500" b="1">
                <a:solidFill>
                  <a:srgbClr val="FFD35C"/>
                </a:solidFill>
                <a:latin typeface="SourceHanSerifSC EvaJian"/>
                <a:ea typeface="SourceHanSerifSC EvaJian"/>
                <a:cs typeface="SourceHanSerifSC EvaJian"/>
              </a:rPr>
              <a:t>咕 咕 啾 啾</a:t>
            </a:r>
            <a:endParaRPr sz="4500" b="1">
              <a:solidFill>
                <a:srgbClr val="FFD35C"/>
              </a:solidFill>
            </a:endParaRPr>
          </a:p>
        </p:txBody>
      </p:sp>
      <p:sp>
        <p:nvSpPr>
          <p:cNvPr id="76" name="Google Shape;76;p13">
            <a:extLst>
              <a:ext uri="{FF2B5EF4-FFF2-40B4-BE49-F238E27FC236}">
                <a16:creationId xmlns:a16="http://schemas.microsoft.com/office/drawing/2014/main" id="{F8B1A152-56DA-421E-9A8F-F03ACDED0503}"/>
              </a:ext>
            </a:extLst>
          </p:cNvPr>
          <p:cNvSpPr>
            <a:spLocks noGrp="1"/>
          </p:cNvSpPr>
          <p:nvPr/>
        </p:nvSpPr>
        <p:spPr>
          <a:xfrm>
            <a:off x="1614825" y="3027750"/>
            <a:ext cx="6100500" cy="1795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天王星像素 11Px"/>
                <a:ea typeface="天王星像素 11Px"/>
                <a:cs typeface="天王星像素 11Px"/>
              </a:defRPr>
            </a:pPr>
            <a:r>
              <a:rPr sz="2300" b="1">
                <a:solidFill>
                  <a:srgbClr val="FFD35C"/>
                </a:solidFill>
                <a:latin typeface="天王星像素 11Px"/>
                <a:ea typeface="天王星像素 11Px"/>
                <a:cs typeface="天王星像素 11Px"/>
              </a:rPr>
              <a:t>有福同享有难退队</a:t>
            </a:r>
            <a:endParaRPr sz="2300" b="1">
              <a:solidFill>
                <a:srgbClr val="FFD35C"/>
              </a:solidFill>
            </a:endParaRPr>
          </a:p>
          <a:p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300" b="1">
              <a:solidFill>
                <a:srgbClr val="FFD35C"/>
              </a:solidFill>
            </a:endParaRPr>
          </a:p>
          <a:p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天王星像素 11Px"/>
                <a:ea typeface="天王星像素 11Px"/>
                <a:cs typeface="天王星像素 11Px"/>
              </a:defRPr>
            </a:pPr>
            <a:r>
              <a:rPr sz="2300" b="1">
                <a:solidFill>
                  <a:srgbClr val="FFD35C"/>
                </a:solidFill>
                <a:latin typeface="天王星像素 11Px"/>
                <a:ea typeface="天王星像素 11Px"/>
                <a:cs typeface="天王星像素 11Px"/>
              </a:rPr>
              <a:t>(不是 怎么真退队啊)</a:t>
            </a:r>
            <a:endParaRPr sz="2300" b="1">
              <a:solidFill>
                <a:srgbClr val="FFD35C"/>
              </a:solidFill>
            </a:endParaRPr>
          </a:p>
          <a:p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天王星像素 11Px"/>
                <a:ea typeface="天王星像素 11Px"/>
                <a:cs typeface="天王星像素 11Px"/>
              </a:defRPr>
            </a:pPr>
            <a:r>
              <a:rPr sz="2300" b="1">
                <a:solidFill>
                  <a:srgbClr val="C80000"/>
                </a:solidFill>
                <a:latin typeface="天王星像素 11Px"/>
                <a:ea typeface="天王星像素 11Px"/>
                <a:cs typeface="天王星像素 11Px"/>
              </a:rPr>
              <a:t>      </a:t>
            </a:r>
            <a:endParaRPr sz="2300" b="1">
              <a:solidFill>
                <a:srgbClr val="C8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3904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">
            <a:extLst>
              <a:ext uri="{FF2B5EF4-FFF2-40B4-BE49-F238E27FC236}">
                <a16:creationId xmlns:a16="http://schemas.microsoft.com/office/drawing/2014/main" id="{1F910227-F401-4B33-8741-D76F582F79D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140100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TC"/>
              <a:ea typeface="Noto Sans TC"/>
              <a:cs typeface="Noto Sans TC"/>
            </a:endParaRPr>
          </a:p>
        </p:txBody>
      </p:sp>
      <p:sp>
        <p:nvSpPr>
          <p:cNvPr id="91" name="Google Shape;91;p15">
            <a:extLst>
              <a:ext uri="{FF2B5EF4-FFF2-40B4-BE49-F238E27FC236}">
                <a16:creationId xmlns:a16="http://schemas.microsoft.com/office/drawing/2014/main" id="{76170521-32D1-4E02-9B8E-59DD0D29F5AD}"/>
              </a:ext>
            </a:extLst>
          </p:cNvPr>
          <p:cNvSpPr>
            <a:spLocks noGrp="1"/>
          </p:cNvSpPr>
          <p:nvPr/>
        </p:nvSpPr>
        <p:spPr>
          <a:xfrm>
            <a:off x="610000" y="190000"/>
            <a:ext cx="9999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666666"/>
                </a:solidFill>
                <a:latin typeface="Noto Sans TC"/>
                <a:ea typeface="Noto Sans TC"/>
                <a:cs typeface="Noto Sans TC"/>
              </a:rPr>
              <a:t>03 / 08</a:t>
            </a:r>
          </a:p>
        </p:txBody>
      </p:sp>
      <p:sp>
        <p:nvSpPr>
          <p:cNvPr id="92" name="Google Shape;92;p15">
            <a:extLst>
              <a:ext uri="{FF2B5EF4-FFF2-40B4-BE49-F238E27FC236}">
                <a16:creationId xmlns:a16="http://schemas.microsoft.com/office/drawing/2014/main" id="{2C399D08-A6CD-4436-8553-3FEA79A1CA1C}"/>
              </a:ext>
            </a:extLst>
          </p:cNvPr>
          <p:cNvSpPr>
            <a:spLocks noGrp="1"/>
          </p:cNvSpPr>
          <p:nvPr/>
        </p:nvSpPr>
        <p:spPr>
          <a:xfrm>
            <a:off x="610000" y="440000"/>
            <a:ext cx="78999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 b="1"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作品简介</a:t>
            </a:r>
            <a:endParaRPr sz="2600" b="1">
              <a:solidFill>
                <a:srgbClr val="C0504D"/>
              </a:solidFill>
              <a:latin typeface="Noto Sans TC"/>
              <a:ea typeface="Noto Sans TC"/>
              <a:cs typeface="Noto Sans TC"/>
            </a:endParaRPr>
          </a:p>
        </p:txBody>
      </p:sp>
      <p:sp>
        <p:nvSpPr>
          <p:cNvPr id="93" name="Google Shape;93;p15">
            <a:extLst>
              <a:ext uri="{FF2B5EF4-FFF2-40B4-BE49-F238E27FC236}">
                <a16:creationId xmlns:a16="http://schemas.microsoft.com/office/drawing/2014/main" id="{D0F2662E-D65C-4005-84DF-63980F57AB73}"/>
              </a:ext>
            </a:extLst>
          </p:cNvPr>
          <p:cNvSpPr>
            <a:spLocks noGrp="1"/>
          </p:cNvSpPr>
          <p:nvPr/>
        </p:nvSpPr>
        <p:spPr>
          <a:xfrm>
            <a:off x="650000" y="1095050"/>
            <a:ext cx="7899900" cy="30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434343"/>
                </a:solidFill>
                <a:latin typeface="Noto Sans TC"/>
                <a:ea typeface="Noto Sans TC"/>
                <a:cs typeface="Noto Sans TC"/>
              </a:rPr>
              <a:t>队伍名称：有福同享有难退队</a:t>
            </a:r>
          </a:p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434343"/>
                </a:solidFill>
                <a:latin typeface="Noto Sans TC"/>
                <a:ea typeface="Noto Sans TC"/>
                <a:cs typeface="Noto Sans TC"/>
              </a:rPr>
              <a:t>作品名称：咕咕啾啾</a:t>
            </a:r>
          </a:p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434343"/>
              </a:solidFill>
              <a:latin typeface="Noto Sans TC"/>
              <a:ea typeface="Noto Sans TC"/>
              <a:cs typeface="Noto Sans TC"/>
            </a:endParaRPr>
          </a:p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一句话介绍：技能扫雷</a:t>
            </a:r>
          </a:p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434343"/>
              </a:solidFill>
              <a:latin typeface="Noto Sans TC"/>
              <a:ea typeface="Noto Sans TC"/>
              <a:cs typeface="Noto Sans TC"/>
            </a:endParaRPr>
          </a:p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核心体验：</a:t>
            </a:r>
          </a:p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让不会玩扫雷的人玩起来</a:t>
            </a:r>
          </a:p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让扫雷高手爽起来</a:t>
            </a:r>
          </a:p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404040"/>
              </a:solidFill>
              <a:latin typeface="Noto Sans TC"/>
              <a:ea typeface="Noto Sans TC"/>
              <a:cs typeface="Noto Sans TC"/>
            </a:endParaRPr>
          </a:p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实机展示：</a:t>
            </a:r>
            <a:endParaRPr sz="1500">
              <a:solidFill>
                <a:srgbClr val="8C8C8C"/>
              </a:solidFill>
              <a:latin typeface="Noto Sans TC"/>
              <a:ea typeface="Noto Sans TC"/>
              <a:cs typeface="Noto Sans TC"/>
            </a:endParaRPr>
          </a:p>
        </p:txBody>
      </p:sp>
      <p:sp>
        <p:nvSpPr>
          <p:cNvPr id="94" name="Google Shape;94;p15">
            <a:extLst>
              <a:ext uri="{FF2B5EF4-FFF2-40B4-BE49-F238E27FC236}">
                <a16:creationId xmlns:a16="http://schemas.microsoft.com/office/drawing/2014/main" id="{C3F1E8EF-5EAF-4900-B06D-9E43410CC27B}"/>
              </a:ext>
            </a:extLst>
          </p:cNvPr>
          <p:cNvSpPr>
            <a:spLocks noGrp="1"/>
          </p:cNvSpPr>
          <p:nvPr/>
        </p:nvSpPr>
        <p:spPr>
          <a:xfrm>
            <a:off x="650000" y="4800000"/>
            <a:ext cx="6000000" cy="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2026 Mini Game 二轮评审｜路演辅助材料</a:t>
            </a:r>
          </a:p>
        </p:txBody>
      </p:sp>
    </p:spTree>
    <p:extLst>
      <p:ext uri="{BB962C8B-B14F-4D97-AF65-F5344CB8AC3E}">
        <p14:creationId xmlns:p14="http://schemas.microsoft.com/office/powerpoint/2010/main" val="828679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>
            <a:extLst>
              <a:ext uri="{FF2B5EF4-FFF2-40B4-BE49-F238E27FC236}">
                <a16:creationId xmlns:a16="http://schemas.microsoft.com/office/drawing/2014/main" id="{EF3A9242-8103-4A6A-B4B5-088DC96F3CD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140100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TC"/>
              <a:ea typeface="Noto Sans TC"/>
              <a:cs typeface="Noto Sans TC"/>
            </a:endParaRPr>
          </a:p>
        </p:txBody>
      </p:sp>
      <p:sp>
        <p:nvSpPr>
          <p:cNvPr id="100" name="Google Shape;100;p16">
            <a:extLst>
              <a:ext uri="{FF2B5EF4-FFF2-40B4-BE49-F238E27FC236}">
                <a16:creationId xmlns:a16="http://schemas.microsoft.com/office/drawing/2014/main" id="{13AD93BA-6527-4F99-B294-8CA68AA75361}"/>
              </a:ext>
            </a:extLst>
          </p:cNvPr>
          <p:cNvSpPr>
            <a:spLocks noGrp="1"/>
          </p:cNvSpPr>
          <p:nvPr/>
        </p:nvSpPr>
        <p:spPr>
          <a:xfrm>
            <a:off x="610000" y="190000"/>
            <a:ext cx="9999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666666"/>
                </a:solidFill>
                <a:latin typeface="Noto Sans TC"/>
                <a:ea typeface="Noto Sans TC"/>
                <a:cs typeface="Noto Sans TC"/>
              </a:rPr>
              <a:t>04 / 08</a:t>
            </a:r>
          </a:p>
        </p:txBody>
      </p:sp>
      <p:sp>
        <p:nvSpPr>
          <p:cNvPr id="101" name="Google Shape;101;p16">
            <a:extLst>
              <a:ext uri="{FF2B5EF4-FFF2-40B4-BE49-F238E27FC236}">
                <a16:creationId xmlns:a16="http://schemas.microsoft.com/office/drawing/2014/main" id="{513543D6-3C0D-4728-9B2B-A52DD82AE4FC}"/>
              </a:ext>
            </a:extLst>
          </p:cNvPr>
          <p:cNvSpPr>
            <a:spLocks noGrp="1"/>
          </p:cNvSpPr>
          <p:nvPr/>
        </p:nvSpPr>
        <p:spPr>
          <a:xfrm>
            <a:off x="610000" y="440000"/>
            <a:ext cx="78999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 b="1"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如何理解「99」</a:t>
            </a:r>
            <a:endParaRPr sz="2600" b="1">
              <a:solidFill>
                <a:srgbClr val="C0504D"/>
              </a:solidFill>
              <a:latin typeface="Noto Sans TC"/>
              <a:ea typeface="Noto Sans TC"/>
              <a:cs typeface="Noto Sans TC"/>
            </a:endParaRPr>
          </a:p>
        </p:txBody>
      </p:sp>
      <p:sp>
        <p:nvSpPr>
          <p:cNvPr id="102" name="Google Shape;102;p16">
            <a:extLst>
              <a:ext uri="{FF2B5EF4-FFF2-40B4-BE49-F238E27FC236}">
                <a16:creationId xmlns:a16="http://schemas.microsoft.com/office/drawing/2014/main" id="{1B1FD6D6-D065-430F-A276-EC049AD35B33}"/>
              </a:ext>
            </a:extLst>
          </p:cNvPr>
          <p:cNvSpPr>
            <a:spLocks noGrp="1"/>
          </p:cNvSpPr>
          <p:nvPr/>
        </p:nvSpPr>
        <p:spPr>
          <a:xfrm>
            <a:off x="650000" y="1240100"/>
            <a:ext cx="7899900" cy="30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我们对「99」的理解是：</a:t>
            </a:r>
          </a:p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是数字、是jiujiu、是救救、是啾啾……还是？</a:t>
            </a:r>
          </a:p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04040"/>
              </a:solidFill>
              <a:latin typeface="Noto Sans TC"/>
              <a:ea typeface="Noto Sans TC"/>
              <a:cs typeface="Noto Sans TC"/>
            </a:endParaRPr>
          </a:p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这个理解最终如何变成游戏：</a:t>
            </a:r>
          </a:p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9——作为数字可以出现在很多游戏里：99关、99层和99个boss</a:t>
            </a:r>
          </a:p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但是，有一个1-8都有但绝无9有的游戏！</a:t>
            </a:r>
          </a:p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那就是————扫雷！</a:t>
            </a:r>
          </a:p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既然如此，我们的就给它加上“9”</a:t>
            </a:r>
          </a:p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04040"/>
              </a:solidFill>
              <a:latin typeface="Noto Sans TC"/>
              <a:ea typeface="Noto Sans TC"/>
              <a:cs typeface="Noto Sans TC"/>
            </a:endParaRPr>
          </a:p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9-即本游戏中所有的技能卡牌</a:t>
            </a:r>
          </a:p>
        </p:txBody>
      </p:sp>
      <p:sp>
        <p:nvSpPr>
          <p:cNvPr id="103" name="Google Shape;103;p16">
            <a:extLst>
              <a:ext uri="{FF2B5EF4-FFF2-40B4-BE49-F238E27FC236}">
                <a16:creationId xmlns:a16="http://schemas.microsoft.com/office/drawing/2014/main" id="{E6164029-1857-4BE4-B817-05EA557280BC}"/>
              </a:ext>
            </a:extLst>
          </p:cNvPr>
          <p:cNvSpPr>
            <a:spLocks noGrp="1"/>
          </p:cNvSpPr>
          <p:nvPr/>
        </p:nvSpPr>
        <p:spPr>
          <a:xfrm>
            <a:off x="650000" y="4800000"/>
            <a:ext cx="6000000" cy="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2026 Mini Game 二轮评审｜路演辅助材料</a:t>
            </a:r>
          </a:p>
        </p:txBody>
      </p:sp>
    </p:spTree>
    <p:extLst>
      <p:ext uri="{BB962C8B-B14F-4D97-AF65-F5344CB8AC3E}">
        <p14:creationId xmlns:p14="http://schemas.microsoft.com/office/powerpoint/2010/main" val="11447704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>
            <a:extLst>
              <a:ext uri="{FF2B5EF4-FFF2-40B4-BE49-F238E27FC236}">
                <a16:creationId xmlns:a16="http://schemas.microsoft.com/office/drawing/2014/main" id="{4B997E19-3F85-43B1-BC0D-8AD75D40D73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140100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TC"/>
              <a:ea typeface="Noto Sans TC"/>
              <a:cs typeface="Noto Sans TC"/>
            </a:endParaRPr>
          </a:p>
        </p:txBody>
      </p:sp>
      <p:sp>
        <p:nvSpPr>
          <p:cNvPr id="109" name="Google Shape;109;p17">
            <a:extLst>
              <a:ext uri="{FF2B5EF4-FFF2-40B4-BE49-F238E27FC236}">
                <a16:creationId xmlns:a16="http://schemas.microsoft.com/office/drawing/2014/main" id="{F877FDD6-1BCC-45F5-BD9E-44EAB854B8F3}"/>
              </a:ext>
            </a:extLst>
          </p:cNvPr>
          <p:cNvSpPr>
            <a:spLocks noGrp="1"/>
          </p:cNvSpPr>
          <p:nvPr/>
        </p:nvSpPr>
        <p:spPr>
          <a:xfrm>
            <a:off x="610000" y="190000"/>
            <a:ext cx="9999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666666"/>
                </a:solidFill>
                <a:latin typeface="Noto Sans TC"/>
                <a:ea typeface="Noto Sans TC"/>
                <a:cs typeface="Noto Sans TC"/>
              </a:rPr>
              <a:t>05 / 08</a:t>
            </a:r>
          </a:p>
        </p:txBody>
      </p:sp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03D3E636-E778-48C5-9749-8E78CFA164B4}"/>
              </a:ext>
            </a:extLst>
          </p:cNvPr>
          <p:cNvSpPr>
            <a:spLocks noGrp="1"/>
          </p:cNvSpPr>
          <p:nvPr/>
        </p:nvSpPr>
        <p:spPr>
          <a:xfrm>
            <a:off x="610000" y="440000"/>
            <a:ext cx="78999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 b="1"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创意从哪里来</a:t>
            </a:r>
            <a:r>
              <a:rPr sz="2600" b="1">
                <a:solidFill>
                  <a:srgbClr val="C0504D"/>
                </a:solidFill>
                <a:latin typeface="Noto Sans TC"/>
                <a:ea typeface="Noto Sans TC"/>
                <a:cs typeface="Noto Sans TC"/>
              </a:rPr>
              <a:t>【必填】</a:t>
            </a:r>
          </a:p>
        </p:txBody>
      </p:sp>
      <p:sp>
        <p:nvSpPr>
          <p:cNvPr id="111" name="Google Shape;111;p17">
            <a:extLst>
              <a:ext uri="{FF2B5EF4-FFF2-40B4-BE49-F238E27FC236}">
                <a16:creationId xmlns:a16="http://schemas.microsoft.com/office/drawing/2014/main" id="{4C935A86-1747-4F9C-B711-A07806D33132}"/>
              </a:ext>
            </a:extLst>
          </p:cNvPr>
          <p:cNvSpPr>
            <a:spLocks noGrp="1"/>
          </p:cNvSpPr>
          <p:nvPr/>
        </p:nvSpPr>
        <p:spPr>
          <a:xfrm>
            <a:off x="650000" y="1450000"/>
            <a:ext cx="7899900" cy="30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灵感 / 参考来源：________</a:t>
            </a:r>
          </a:p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我们参考或受到启发的部分：________</a:t>
            </a:r>
          </a:p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在本作中的变化：________</a:t>
            </a:r>
          </a:p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4343"/>
              </a:solidFill>
              <a:latin typeface="Noto Sans TC"/>
              <a:ea typeface="Noto Sans TC"/>
              <a:cs typeface="Noto Sans TC"/>
            </a:endParaRPr>
          </a:p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可来自游戏、影视、现实经历、玩法机制、题材、美术风格等。</a:t>
            </a:r>
          </a:p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如参考过已有游戏，请直接写出作品名称及具体参考内容。</a:t>
            </a:r>
          </a:p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8C8C8C"/>
              </a:solidFill>
              <a:latin typeface="Noto Sans TC"/>
              <a:ea typeface="Noto Sans TC"/>
              <a:cs typeface="Noto Sans TC"/>
            </a:endParaRPr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A3EBE90B-4635-4709-B49A-2C3514F0D4A7}"/>
              </a:ext>
            </a:extLst>
          </p:cNvPr>
          <p:cNvSpPr>
            <a:spLocks noGrp="1"/>
          </p:cNvSpPr>
          <p:nvPr/>
        </p:nvSpPr>
        <p:spPr>
          <a:xfrm>
            <a:off x="650000" y="4800000"/>
            <a:ext cx="6000000" cy="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2026 Mini Game 二轮评审｜路演辅助材料</a:t>
            </a:r>
          </a:p>
        </p:txBody>
      </p:sp>
    </p:spTree>
    <p:extLst>
      <p:ext uri="{BB962C8B-B14F-4D97-AF65-F5344CB8AC3E}">
        <p14:creationId xmlns:p14="http://schemas.microsoft.com/office/powerpoint/2010/main" val="692158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>
            <a:extLst>
              <a:ext uri="{FF2B5EF4-FFF2-40B4-BE49-F238E27FC236}">
                <a16:creationId xmlns:a16="http://schemas.microsoft.com/office/drawing/2014/main" id="{44D74D65-94B3-4AC5-A548-27441B0FD1A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140100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TC"/>
              <a:ea typeface="Noto Sans TC"/>
              <a:cs typeface="Noto Sans TC"/>
            </a:endParaRPr>
          </a:p>
        </p:txBody>
      </p:sp>
      <p:sp>
        <p:nvSpPr>
          <p:cNvPr id="118" name="Google Shape;118;p18">
            <a:extLst>
              <a:ext uri="{FF2B5EF4-FFF2-40B4-BE49-F238E27FC236}">
                <a16:creationId xmlns:a16="http://schemas.microsoft.com/office/drawing/2014/main" id="{41EE335C-7F6F-48BB-86B2-F442AA716F72}"/>
              </a:ext>
            </a:extLst>
          </p:cNvPr>
          <p:cNvSpPr>
            <a:spLocks noGrp="1"/>
          </p:cNvSpPr>
          <p:nvPr/>
        </p:nvSpPr>
        <p:spPr>
          <a:xfrm>
            <a:off x="610000" y="190000"/>
            <a:ext cx="9999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666666"/>
                </a:solidFill>
                <a:latin typeface="Noto Sans TC"/>
                <a:ea typeface="Noto Sans TC"/>
                <a:cs typeface="Noto Sans TC"/>
              </a:rPr>
              <a:t>05 / 08</a:t>
            </a:r>
          </a:p>
        </p:txBody>
      </p:sp>
      <p:sp>
        <p:nvSpPr>
          <p:cNvPr id="119" name="Google Shape;119;p18">
            <a:extLst>
              <a:ext uri="{FF2B5EF4-FFF2-40B4-BE49-F238E27FC236}">
                <a16:creationId xmlns:a16="http://schemas.microsoft.com/office/drawing/2014/main" id="{6AB6F73D-2E78-45B8-9F50-C42BC96AC8B2}"/>
              </a:ext>
            </a:extLst>
          </p:cNvPr>
          <p:cNvSpPr>
            <a:spLocks noGrp="1"/>
          </p:cNvSpPr>
          <p:nvPr/>
        </p:nvSpPr>
        <p:spPr>
          <a:xfrm>
            <a:off x="610000" y="440000"/>
            <a:ext cx="78999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 b="1"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我们做了什么不一样</a:t>
            </a:r>
            <a:r>
              <a:rPr sz="2600" b="1">
                <a:solidFill>
                  <a:srgbClr val="C0504D"/>
                </a:solidFill>
                <a:latin typeface="Noto Sans TC"/>
                <a:ea typeface="Noto Sans TC"/>
                <a:cs typeface="Noto Sans TC"/>
              </a:rPr>
              <a:t>——游戏机制</a:t>
            </a:r>
          </a:p>
        </p:txBody>
      </p:sp>
      <p:sp>
        <p:nvSpPr>
          <p:cNvPr id="120" name="Google Shape;120;p18">
            <a:extLst>
              <a:ext uri="{FF2B5EF4-FFF2-40B4-BE49-F238E27FC236}">
                <a16:creationId xmlns:a16="http://schemas.microsoft.com/office/drawing/2014/main" id="{AC8F247B-6862-476E-9A73-68BD6BAF5527}"/>
              </a:ext>
            </a:extLst>
          </p:cNvPr>
          <p:cNvSpPr>
            <a:spLocks noGrp="1"/>
          </p:cNvSpPr>
          <p:nvPr/>
        </p:nvSpPr>
        <p:spPr>
          <a:xfrm>
            <a:off x="650000" y="1450000"/>
            <a:ext cx="7899900" cy="30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创新点 1｜游戏机制</a:t>
            </a:r>
          </a:p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它是什么？与已有作品 / 常见做法相比，哪里不同？</a:t>
            </a:r>
          </a:p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04040"/>
              </a:solidFill>
              <a:latin typeface="Noto Sans TC"/>
              <a:ea typeface="Noto Sans TC"/>
              <a:cs typeface="Noto Sans TC"/>
            </a:endParaRPr>
          </a:p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创新点 2｜________（如有）</a:t>
            </a:r>
          </a:p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它是什么？为什么这样设计？</a:t>
            </a:r>
          </a:p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04040"/>
              </a:solidFill>
              <a:latin typeface="Noto Sans TC"/>
              <a:ea typeface="Noto Sans TC"/>
              <a:cs typeface="Noto Sans TC"/>
            </a:endParaRPr>
          </a:p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创新点 3｜________（如有）</a:t>
            </a:r>
          </a:p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它给实际游戏体验带来了什么变化？</a:t>
            </a:r>
          </a:p>
        </p:txBody>
      </p:sp>
      <p:sp>
        <p:nvSpPr>
          <p:cNvPr id="121" name="Google Shape;121;p18">
            <a:extLst>
              <a:ext uri="{FF2B5EF4-FFF2-40B4-BE49-F238E27FC236}">
                <a16:creationId xmlns:a16="http://schemas.microsoft.com/office/drawing/2014/main" id="{9B41C3CA-8F75-4B60-976D-DE2059ED8871}"/>
              </a:ext>
            </a:extLst>
          </p:cNvPr>
          <p:cNvSpPr>
            <a:spLocks noGrp="1"/>
          </p:cNvSpPr>
          <p:nvPr/>
        </p:nvSpPr>
        <p:spPr>
          <a:xfrm>
            <a:off x="650000" y="4800000"/>
            <a:ext cx="6000000" cy="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2026 Mini Game 二轮评审｜路演辅助材料</a:t>
            </a:r>
          </a:p>
        </p:txBody>
      </p:sp>
    </p:spTree>
    <p:extLst>
      <p:ext uri="{BB962C8B-B14F-4D97-AF65-F5344CB8AC3E}">
        <p14:creationId xmlns:p14="http://schemas.microsoft.com/office/powerpoint/2010/main" val="1975840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>
            <a:extLst>
              <a:ext uri="{FF2B5EF4-FFF2-40B4-BE49-F238E27FC236}">
                <a16:creationId xmlns:a16="http://schemas.microsoft.com/office/drawing/2014/main" id="{89B89605-2F0D-4E6A-BE4A-956F29C992C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140100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TC"/>
              <a:ea typeface="Noto Sans TC"/>
              <a:cs typeface="Noto Sans TC"/>
            </a:endParaRPr>
          </a:p>
        </p:txBody>
      </p:sp>
      <p:sp>
        <p:nvSpPr>
          <p:cNvPr id="127" name="Google Shape;127;p19">
            <a:extLst>
              <a:ext uri="{FF2B5EF4-FFF2-40B4-BE49-F238E27FC236}">
                <a16:creationId xmlns:a16="http://schemas.microsoft.com/office/drawing/2014/main" id="{785B48A9-6CD6-480E-8CDB-282109DAF696}"/>
              </a:ext>
            </a:extLst>
          </p:cNvPr>
          <p:cNvSpPr>
            <a:spLocks noGrp="1"/>
          </p:cNvSpPr>
          <p:nvPr/>
        </p:nvSpPr>
        <p:spPr>
          <a:xfrm>
            <a:off x="610000" y="190000"/>
            <a:ext cx="9999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666666"/>
                </a:solidFill>
                <a:latin typeface="Noto Sans TC"/>
                <a:ea typeface="Noto Sans TC"/>
                <a:cs typeface="Noto Sans TC"/>
              </a:rPr>
              <a:t>05 / 08</a:t>
            </a:r>
          </a:p>
        </p:txBody>
      </p:sp>
      <p:sp>
        <p:nvSpPr>
          <p:cNvPr id="128" name="Google Shape;128;p19">
            <a:extLst>
              <a:ext uri="{FF2B5EF4-FFF2-40B4-BE49-F238E27FC236}">
                <a16:creationId xmlns:a16="http://schemas.microsoft.com/office/drawing/2014/main" id="{E38A0738-483E-413B-9C73-9A8A406F21E5}"/>
              </a:ext>
            </a:extLst>
          </p:cNvPr>
          <p:cNvSpPr>
            <a:spLocks noGrp="1"/>
          </p:cNvSpPr>
          <p:nvPr/>
        </p:nvSpPr>
        <p:spPr>
          <a:xfrm>
            <a:off x="610000" y="440000"/>
            <a:ext cx="78999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 b="1"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我们做了什么不一样</a:t>
            </a:r>
            <a:r>
              <a:rPr sz="2600" b="1">
                <a:solidFill>
                  <a:srgbClr val="C0504D"/>
                </a:solidFill>
                <a:latin typeface="Noto Sans TC"/>
                <a:ea typeface="Noto Sans TC"/>
                <a:cs typeface="Noto Sans TC"/>
              </a:rPr>
              <a:t>——技术创新</a:t>
            </a:r>
          </a:p>
        </p:txBody>
      </p:sp>
      <p:sp>
        <p:nvSpPr>
          <p:cNvPr id="129" name="Google Shape;129;p19">
            <a:extLst>
              <a:ext uri="{FF2B5EF4-FFF2-40B4-BE49-F238E27FC236}">
                <a16:creationId xmlns:a16="http://schemas.microsoft.com/office/drawing/2014/main" id="{50A32174-FC6D-4484-8D6F-A704F1E7C148}"/>
              </a:ext>
            </a:extLst>
          </p:cNvPr>
          <p:cNvSpPr>
            <a:spLocks noGrp="1"/>
          </p:cNvSpPr>
          <p:nvPr/>
        </p:nvSpPr>
        <p:spPr>
          <a:xfrm>
            <a:off x="650000" y="1450000"/>
            <a:ext cx="7899900" cy="30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对于有高品质要求的美术资源</a:t>
            </a:r>
          </a:p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我是GPT Image 2多次尝试、精调、试错。对于要求不高的美术资源，我部署了一个本地快速生图方案，就是我那天在群里说的，通过模型裁切，用FLUX模型在5060显卡上做到0.8s一张像素画，从而实现小Icon的快速产出</a:t>
            </a:r>
          </a:p>
        </p:txBody>
      </p:sp>
      <p:sp>
        <p:nvSpPr>
          <p:cNvPr id="130" name="Google Shape;130;p19">
            <a:extLst>
              <a:ext uri="{FF2B5EF4-FFF2-40B4-BE49-F238E27FC236}">
                <a16:creationId xmlns:a16="http://schemas.microsoft.com/office/drawing/2014/main" id="{78742061-FD33-48C7-BD3C-E9157CA2FB23}"/>
              </a:ext>
            </a:extLst>
          </p:cNvPr>
          <p:cNvSpPr>
            <a:spLocks noGrp="1"/>
          </p:cNvSpPr>
          <p:nvPr/>
        </p:nvSpPr>
        <p:spPr>
          <a:xfrm>
            <a:off x="650000" y="4800000"/>
            <a:ext cx="6000000" cy="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2026 Mini Game 二轮评审｜路演辅助材料</a:t>
            </a:r>
          </a:p>
        </p:txBody>
      </p:sp>
    </p:spTree>
    <p:extLst>
      <p:ext uri="{BB962C8B-B14F-4D97-AF65-F5344CB8AC3E}">
        <p14:creationId xmlns:p14="http://schemas.microsoft.com/office/powerpoint/2010/main" val="691187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>
            <a:extLst>
              <a:ext uri="{FF2B5EF4-FFF2-40B4-BE49-F238E27FC236}">
                <a16:creationId xmlns:a16="http://schemas.microsoft.com/office/drawing/2014/main" id="{D5FD9F34-3438-4449-9A0B-0AB3115F148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140100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TC"/>
              <a:ea typeface="Noto Sans TC"/>
              <a:cs typeface="Noto Sans TC"/>
            </a:endParaRPr>
          </a:p>
        </p:txBody>
      </p:sp>
      <p:sp>
        <p:nvSpPr>
          <p:cNvPr id="136" name="Google Shape;136;p20">
            <a:extLst>
              <a:ext uri="{FF2B5EF4-FFF2-40B4-BE49-F238E27FC236}">
                <a16:creationId xmlns:a16="http://schemas.microsoft.com/office/drawing/2014/main" id="{8A381800-C683-47E3-8ABC-FB57EBD0CB5F}"/>
              </a:ext>
            </a:extLst>
          </p:cNvPr>
          <p:cNvSpPr>
            <a:spLocks noGrp="1"/>
          </p:cNvSpPr>
          <p:nvPr/>
        </p:nvSpPr>
        <p:spPr>
          <a:xfrm>
            <a:off x="610000" y="190000"/>
            <a:ext cx="9999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666666"/>
                </a:solidFill>
                <a:latin typeface="Noto Sans TC"/>
                <a:ea typeface="Noto Sans TC"/>
                <a:cs typeface="Noto Sans TC"/>
              </a:rPr>
              <a:t>06 / 08</a:t>
            </a:r>
          </a:p>
        </p:txBody>
      </p:sp>
      <p:sp>
        <p:nvSpPr>
          <p:cNvPr id="137" name="Google Shape;137;p20">
            <a:extLst>
              <a:ext uri="{FF2B5EF4-FFF2-40B4-BE49-F238E27FC236}">
                <a16:creationId xmlns:a16="http://schemas.microsoft.com/office/drawing/2014/main" id="{FAAA074E-2F54-4002-899B-862435DD397B}"/>
              </a:ext>
            </a:extLst>
          </p:cNvPr>
          <p:cNvSpPr>
            <a:spLocks noGrp="1"/>
          </p:cNvSpPr>
          <p:nvPr/>
        </p:nvSpPr>
        <p:spPr>
          <a:xfrm>
            <a:off x="610000" y="440000"/>
            <a:ext cx="78999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 b="1"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核心玩法与设计决策【选填】</a:t>
            </a:r>
          </a:p>
        </p:txBody>
      </p:sp>
      <p:sp>
        <p:nvSpPr>
          <p:cNvPr id="138" name="Google Shape;138;p20">
            <a:extLst>
              <a:ext uri="{FF2B5EF4-FFF2-40B4-BE49-F238E27FC236}">
                <a16:creationId xmlns:a16="http://schemas.microsoft.com/office/drawing/2014/main" id="{5846473C-334D-455E-AE94-B017492B8A4B}"/>
              </a:ext>
            </a:extLst>
          </p:cNvPr>
          <p:cNvSpPr>
            <a:spLocks noGrp="1"/>
          </p:cNvSpPr>
          <p:nvPr/>
        </p:nvSpPr>
        <p:spPr>
          <a:xfrm>
            <a:off x="677775" y="1240100"/>
            <a:ext cx="7899900" cy="30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核心玩法</a:t>
            </a:r>
          </a:p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请用一句简单流程描述游戏循环：</a:t>
            </a:r>
          </a:p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________ → ________ → ________ → ________</a:t>
            </a:r>
          </a:p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8C8C8C"/>
              </a:solidFill>
              <a:latin typeface="Noto Sans TC"/>
              <a:ea typeface="Noto Sans TC"/>
              <a:cs typeface="Noto Sans TC"/>
            </a:endParaRPr>
          </a:p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我们最重要的玩法决策【选填】</a:t>
            </a:r>
          </a:p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8C8C8C"/>
              </a:solidFill>
              <a:latin typeface="Noto Sans TC"/>
              <a:ea typeface="Noto Sans TC"/>
              <a:cs typeface="Noto Sans TC"/>
            </a:endParaRPr>
          </a:p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设计决策 1｜________</a:t>
            </a:r>
          </a:p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为什么这样设计：________</a:t>
            </a:r>
          </a:p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希望给玩家带来的体验：________</a:t>
            </a:r>
          </a:p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8C8C8C"/>
              </a:solidFill>
              <a:latin typeface="Noto Sans TC"/>
              <a:ea typeface="Noto Sans TC"/>
              <a:cs typeface="Noto Sans TC"/>
            </a:endParaRPr>
          </a:p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设计决策 2｜________（如有）</a:t>
            </a:r>
          </a:p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为什么这样设计：________</a:t>
            </a:r>
          </a:p>
        </p:txBody>
      </p:sp>
      <p:sp>
        <p:nvSpPr>
          <p:cNvPr id="139" name="Google Shape;139;p20">
            <a:extLst>
              <a:ext uri="{FF2B5EF4-FFF2-40B4-BE49-F238E27FC236}">
                <a16:creationId xmlns:a16="http://schemas.microsoft.com/office/drawing/2014/main" id="{D1A6252D-3AE3-44BB-8B9A-0B4CD4F2CBF8}"/>
              </a:ext>
            </a:extLst>
          </p:cNvPr>
          <p:cNvSpPr>
            <a:spLocks noGrp="1"/>
          </p:cNvSpPr>
          <p:nvPr/>
        </p:nvSpPr>
        <p:spPr>
          <a:xfrm>
            <a:off x="650000" y="4800000"/>
            <a:ext cx="6000000" cy="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2026 Mini Game 二轮评审｜路演辅助材料</a:t>
            </a:r>
          </a:p>
        </p:txBody>
      </p:sp>
    </p:spTree>
    <p:extLst>
      <p:ext uri="{BB962C8B-B14F-4D97-AF65-F5344CB8AC3E}">
        <p14:creationId xmlns:p14="http://schemas.microsoft.com/office/powerpoint/2010/main" val="19312728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1">
            <a:extLst>
              <a:ext uri="{FF2B5EF4-FFF2-40B4-BE49-F238E27FC236}">
                <a16:creationId xmlns:a16="http://schemas.microsoft.com/office/drawing/2014/main" id="{5229359A-1017-4345-9D2D-900D5DB2BBA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140100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TC"/>
              <a:ea typeface="Noto Sans TC"/>
              <a:cs typeface="Noto Sans TC"/>
            </a:endParaRPr>
          </a:p>
        </p:txBody>
      </p:sp>
      <p:sp>
        <p:nvSpPr>
          <p:cNvPr id="145" name="Google Shape;145;p21">
            <a:extLst>
              <a:ext uri="{FF2B5EF4-FFF2-40B4-BE49-F238E27FC236}">
                <a16:creationId xmlns:a16="http://schemas.microsoft.com/office/drawing/2014/main" id="{744C9FB7-8704-4F00-B2A6-7666C18E30B7}"/>
              </a:ext>
            </a:extLst>
          </p:cNvPr>
          <p:cNvSpPr>
            <a:spLocks noGrp="1"/>
          </p:cNvSpPr>
          <p:nvPr/>
        </p:nvSpPr>
        <p:spPr>
          <a:xfrm>
            <a:off x="610000" y="190000"/>
            <a:ext cx="9999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666666"/>
                </a:solidFill>
                <a:latin typeface="Noto Sans TC"/>
                <a:ea typeface="Noto Sans TC"/>
                <a:cs typeface="Noto Sans TC"/>
              </a:rPr>
              <a:t>07 / 08</a:t>
            </a:r>
          </a:p>
        </p:txBody>
      </p:sp>
      <p:sp>
        <p:nvSpPr>
          <p:cNvPr id="146" name="Google Shape;146;p21">
            <a:extLst>
              <a:ext uri="{FF2B5EF4-FFF2-40B4-BE49-F238E27FC236}">
                <a16:creationId xmlns:a16="http://schemas.microsoft.com/office/drawing/2014/main" id="{F8A2BD45-3823-4E15-AC54-B9565F5DD2A0}"/>
              </a:ext>
            </a:extLst>
          </p:cNvPr>
          <p:cNvSpPr>
            <a:spLocks noGrp="1"/>
          </p:cNvSpPr>
          <p:nvPr/>
        </p:nvSpPr>
        <p:spPr>
          <a:xfrm>
            <a:off x="610000" y="440000"/>
            <a:ext cx="78999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 b="1"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表现与实现亮点【选填】</a:t>
            </a:r>
          </a:p>
        </p:txBody>
      </p:sp>
      <p:sp>
        <p:nvSpPr>
          <p:cNvPr id="147" name="Google Shape;147;p21">
            <a:extLst>
              <a:ext uri="{FF2B5EF4-FFF2-40B4-BE49-F238E27FC236}">
                <a16:creationId xmlns:a16="http://schemas.microsoft.com/office/drawing/2014/main" id="{2EA11BC9-C005-48A3-B0AB-A29A4D2AA497}"/>
              </a:ext>
            </a:extLst>
          </p:cNvPr>
          <p:cNvSpPr>
            <a:spLocks noGrp="1"/>
          </p:cNvSpPr>
          <p:nvPr/>
        </p:nvSpPr>
        <p:spPr>
          <a:xfrm>
            <a:off x="650000" y="1158475"/>
            <a:ext cx="7899900" cy="30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不需要面面俱到，请选择本作最值得评委关注的 1–2 项。</a:t>
            </a:r>
          </a:p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8C8C8C"/>
              </a:solidFill>
              <a:latin typeface="Noto Sans TC"/>
              <a:ea typeface="Noto Sans TC"/>
              <a:cs typeface="Noto Sans TC"/>
            </a:endParaRPr>
          </a:p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可选方向：</a:t>
            </a:r>
          </a:p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• 技术实现 / 特殊系统</a:t>
            </a:r>
          </a:p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• 美术风格</a:t>
            </a:r>
          </a:p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• 动画与视觉反馈</a:t>
            </a:r>
          </a:p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• 音乐 / 音效</a:t>
            </a:r>
          </a:p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• 操作与交互</a:t>
            </a:r>
          </a:p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• AI 工具或特殊开发方式</a:t>
            </a:r>
          </a:p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• 其他实现难点</a:t>
            </a:r>
          </a:p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8C8C8C"/>
              </a:solidFill>
              <a:latin typeface="Noto Sans TC"/>
              <a:ea typeface="Noto Sans TC"/>
              <a:cs typeface="Noto Sans TC"/>
            </a:endParaRPr>
          </a:p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亮点 1｜________  简要说明：________</a:t>
            </a:r>
          </a:p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亮点 2｜________  简要说明：________</a:t>
            </a:r>
          </a:p>
        </p:txBody>
      </p:sp>
      <p:sp>
        <p:nvSpPr>
          <p:cNvPr id="148" name="Google Shape;148;p21">
            <a:extLst>
              <a:ext uri="{FF2B5EF4-FFF2-40B4-BE49-F238E27FC236}">
                <a16:creationId xmlns:a16="http://schemas.microsoft.com/office/drawing/2014/main" id="{491A26F0-5214-44FF-AF26-6463B422D0C0}"/>
              </a:ext>
            </a:extLst>
          </p:cNvPr>
          <p:cNvSpPr>
            <a:spLocks noGrp="1"/>
          </p:cNvSpPr>
          <p:nvPr/>
        </p:nvSpPr>
        <p:spPr>
          <a:xfrm>
            <a:off x="650000" y="4800000"/>
            <a:ext cx="6000000" cy="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2026 Mini Game 二轮评审｜路演辅助材料</a:t>
            </a:r>
          </a:p>
        </p:txBody>
      </p:sp>
    </p:spTree>
    <p:extLst>
      <p:ext uri="{BB962C8B-B14F-4D97-AF65-F5344CB8AC3E}">
        <p14:creationId xmlns:p14="http://schemas.microsoft.com/office/powerpoint/2010/main" val="14000335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">
            <a:extLst>
              <a:ext uri="{FF2B5EF4-FFF2-40B4-BE49-F238E27FC236}">
                <a16:creationId xmlns:a16="http://schemas.microsoft.com/office/drawing/2014/main" id="{466F4F01-84BD-4D0A-A437-BA52EC32034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140100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TC"/>
              <a:ea typeface="Noto Sans TC"/>
              <a:cs typeface="Noto Sans TC"/>
            </a:endParaRPr>
          </a:p>
        </p:txBody>
      </p:sp>
      <p:sp>
        <p:nvSpPr>
          <p:cNvPr id="154" name="Google Shape;154;p22">
            <a:extLst>
              <a:ext uri="{FF2B5EF4-FFF2-40B4-BE49-F238E27FC236}">
                <a16:creationId xmlns:a16="http://schemas.microsoft.com/office/drawing/2014/main" id="{10136441-8E8F-4F60-A987-57D7AA99B303}"/>
              </a:ext>
            </a:extLst>
          </p:cNvPr>
          <p:cNvSpPr>
            <a:spLocks noGrp="1"/>
          </p:cNvSpPr>
          <p:nvPr/>
        </p:nvSpPr>
        <p:spPr>
          <a:xfrm>
            <a:off x="610000" y="190000"/>
            <a:ext cx="9999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666666"/>
                </a:solidFill>
                <a:latin typeface="Noto Sans TC"/>
                <a:ea typeface="Noto Sans TC"/>
                <a:cs typeface="Noto Sans TC"/>
              </a:rPr>
              <a:t>08 / 08</a:t>
            </a:r>
          </a:p>
        </p:txBody>
      </p:sp>
      <p:sp>
        <p:nvSpPr>
          <p:cNvPr id="155" name="Google Shape;155;p22">
            <a:extLst>
              <a:ext uri="{FF2B5EF4-FFF2-40B4-BE49-F238E27FC236}">
                <a16:creationId xmlns:a16="http://schemas.microsoft.com/office/drawing/2014/main" id="{4EBE0C75-00FD-4CD5-BC80-C94235C7A41F}"/>
              </a:ext>
            </a:extLst>
          </p:cNvPr>
          <p:cNvSpPr>
            <a:spLocks noGrp="1"/>
          </p:cNvSpPr>
          <p:nvPr/>
        </p:nvSpPr>
        <p:spPr>
          <a:xfrm>
            <a:off x="610000" y="440000"/>
            <a:ext cx="78999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 b="1"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希望评委记住……【选填】</a:t>
            </a:r>
          </a:p>
        </p:txBody>
      </p:sp>
      <p:sp>
        <p:nvSpPr>
          <p:cNvPr id="156" name="Google Shape;156;p22">
            <a:extLst>
              <a:ext uri="{FF2B5EF4-FFF2-40B4-BE49-F238E27FC236}">
                <a16:creationId xmlns:a16="http://schemas.microsoft.com/office/drawing/2014/main" id="{DF85E3C6-C15B-49F9-ABFA-EB9565DDA0AE}"/>
              </a:ext>
            </a:extLst>
          </p:cNvPr>
          <p:cNvSpPr>
            <a:spLocks noGrp="1"/>
          </p:cNvSpPr>
          <p:nvPr/>
        </p:nvSpPr>
        <p:spPr>
          <a:xfrm>
            <a:off x="650000" y="1408375"/>
            <a:ext cx="7899900" cy="30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如果路演结束后，只希望评委记住这个作品的 3 件事：</a:t>
            </a:r>
          </a:p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01｜________</a:t>
            </a:r>
          </a:p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02｜________</a:t>
            </a:r>
          </a:p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03｜________</a:t>
            </a:r>
          </a:p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8C8C8C"/>
              </a:solidFill>
              <a:latin typeface="Noto Sans TC"/>
              <a:ea typeface="Noto Sans TC"/>
              <a:cs typeface="Noto Sans TC"/>
            </a:endParaRPr>
          </a:p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8C8C8C"/>
              </a:solidFill>
              <a:latin typeface="Noto Sans TC"/>
              <a:ea typeface="Noto Sans TC"/>
              <a:cs typeface="Noto Sans TC"/>
            </a:endParaRPr>
          </a:p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建议节奏：</a:t>
            </a:r>
          </a:p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• 作品简介 + 核心体验：30 秒</a:t>
            </a:r>
          </a:p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• 主题理解与体现：1 分钟</a:t>
            </a:r>
          </a:p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• 灵感来源 + 创新点：1 分 30 秒</a:t>
            </a:r>
          </a:p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• 核心玩法与设计决策：1 分钟</a:t>
            </a:r>
          </a:p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• 表现 / 技术亮点 + 总结：1 分钟</a:t>
            </a:r>
          </a:p>
        </p:txBody>
      </p:sp>
      <p:sp>
        <p:nvSpPr>
          <p:cNvPr id="157" name="Google Shape;157;p22">
            <a:extLst>
              <a:ext uri="{FF2B5EF4-FFF2-40B4-BE49-F238E27FC236}">
                <a16:creationId xmlns:a16="http://schemas.microsoft.com/office/drawing/2014/main" id="{C1F67680-1AC5-46BE-935C-C60E640205CB}"/>
              </a:ext>
            </a:extLst>
          </p:cNvPr>
          <p:cNvSpPr>
            <a:spLocks noGrp="1"/>
          </p:cNvSpPr>
          <p:nvPr/>
        </p:nvSpPr>
        <p:spPr>
          <a:xfrm>
            <a:off x="650000" y="4800000"/>
            <a:ext cx="6000000" cy="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2026 Mini Game 二轮评审｜路演辅助材料</a:t>
            </a:r>
          </a:p>
        </p:txBody>
      </p:sp>
    </p:spTree>
    <p:extLst>
      <p:ext uri="{BB962C8B-B14F-4D97-AF65-F5344CB8AC3E}">
        <p14:creationId xmlns:p14="http://schemas.microsoft.com/office/powerpoint/2010/main" val="2123478205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380</Words>
  <Application>Microsoft Office PowerPoint</Application>
  <DocSecurity>0</DocSecurity>
  <PresentationFormat>全屏显示(16:9)</PresentationFormat>
  <Paragraphs>102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SourceHanSerifSC EvaJian</vt:lpstr>
      <vt:lpstr>Garamond</vt:lpstr>
      <vt:lpstr>Palatino Linotype</vt:lpstr>
      <vt:lpstr>Noto Sans TC</vt:lpstr>
      <vt:lpstr>天王星像素 11Px</vt:lpstr>
      <vt:lpstr>Arial</vt:lpstr>
      <vt:lpstr>Calibri</vt:lpstr>
      <vt:lpstr>Simple Light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向辰 武</cp:lastModifiedBy>
  <cp:revision>1</cp:revision>
  <dcterms:created xsi:type="dcterms:W3CDTF">2026-09-01T09:49:31Z</dcterms:created>
  <dcterms:modified xsi:type="dcterms:W3CDTF">2026-09-01T09:57:42Z</dcterms:modified>
</cp:coreProperties>
</file>